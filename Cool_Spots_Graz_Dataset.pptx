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presenting my individual dataset: Cool Spots Graz. It is an open point-of-interest dataset that brings together, in one place, the spots in Graz where people can cool down on a hot day. Over the next ten minutes I'll cover the motivation, what's in it, how I built it, how it's licensed, the use case,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Graz, like the rest of Austria, is getting hotter. The city already runs an official cooling-spot campaign, but it is tiny: ten churches and three libraries, and it only lives in a news article, not as open data. Meanwhile there are hundreds of fountains, parks and pools that nobody has pulled together. So the question I want to answer is simple: it's 35 degrees, where do I go, and which of those places are official.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numbers: 289 records, seven types of cooling spot, twelve attributes per record including coordinates, and thirteen of them flagged as official cooling rooms. That comfortably clears the seminar's minimum of fifty records and four attributes. It ships as both CSV and GeoJSON in WGS84, so it drops straight into QGIS or a web map, and it comes with full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types in total now: 172 drinking fountains, 88 parks, ten churches, eight libraries, six pools, three water playgrounds, two spray-mist installations, and two cultural buildings added in this version. The Kunsthaus Graz foyer and the Graz Museum Stadtoase courtyard are both listed in the city's official Hitzeaktionsplan as cooling spots. All thirteen official Coole Räume appear as red markers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conflation of four-plus open sources. The three City of Graz OGD layers via ArcGIS REST, parks from OpenStreetMap via Overpass, pools and spray installations from Freizeitbetriebe and Holding Graz, and in this version two cultural buildings, the Kunsthaus foyer and the Graz Museum Stadtoase, taken from the official Hitzeaktionsplan. Every source is normalized onto the same schema and the whole pipeline is a Python script you can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attributes, grouped here: identity, classification, location, access hours, provenance, and one derived field. That derived field, coole_raeume, is where the originality lives. The official list is published in the City's Hitzeaktionsplan (June 2025), so I matched its churches and libraries against the open-data layers by object ID to turn it into a structured yes-no flag. The new contribution is the combination plus that flag, which is exactly what the assignment means by a significant update rather than just re-publishing existing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published on GitHub: the data as CSV and GeoJSON, the build scripts, and an interactive map on GitHub Pages, with the raw downloads kept for traceability. On licensing: the city layers are CC BY, the OpenStreetMap parks are ODbL. Because ODbL has a share-alike clause for derived databases, the safe and correct choice is to release the whole combined dataset under ODbL, with attribution to both sources. So I picked one clear license that is compatible with every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use case is the everyday one: it's hot, open the map, filter, find the closest cool place. But the structured flag unlocks more. You can directly compare the thirteen official spots against the hundreds of free ones. You can run a proper accessibility analysis in QGIS to find under-served neighbourhoods. And because it is clean open geodata, it can feed a city app or heat-resilience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demo. This is the live map built from the same CSV with Leaflet. Each of the seven types is its own toggleable layer in the top right, so you can isolate just fountains, or just the official cooling rooms in red. Clicking a marker shows its name, address, source and license. I'll switch to the live version now and toggle a couple of layers, and zoom into the inner city where the official red markers cluster. (Open the live URL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housekeeping the assignment asks for. Legally it is clean: open sources, documented attribution, ODbL share-alike. Ethically it is low-risk and public-good: only public infrastructure, no personal data, and it serves a climate-vulnerable need. For maintenance, the whole thing rebuilds by re-running one script against the live endpoints, and re-checking the official list, and it is open for community contributions on GitHub.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A6E"/>
        </a:solidFill>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rtlCol="0" anchor="ctr"/>
          <a:lstStyle/>
          <a:p>
            <a:pPr indent="0" marL="0">
              <a:buNone/>
            </a:pPr>
            <a:r>
              <a:rPr lang="en-US" sz="1500" b="1" spc="400" kern="0" dirty="0">
                <a:solidFill>
                  <a:srgbClr val="CADCFC"/>
                </a:solidFill>
                <a:latin typeface="Calibri" pitchFamily="34" charset="0"/>
                <a:ea typeface="Calibri" pitchFamily="34" charset="-122"/>
                <a:cs typeface="Calibri" pitchFamily="34" charset="-120"/>
              </a:rPr>
              <a:t>DATASET PRESENTATION</a:t>
            </a:r>
            <a:endParaRPr lang="en-US" sz="1500" dirty="0"/>
          </a:p>
        </p:txBody>
      </p:sp>
      <p:sp>
        <p:nvSpPr>
          <p:cNvPr id="3" name="Text 1"/>
          <p:cNvSpPr/>
          <p:nvPr/>
        </p:nvSpPr>
        <p:spPr>
          <a:xfrm>
            <a:off x="777240" y="1783080"/>
            <a:ext cx="10607040" cy="118872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Cool Spots Graz</a:t>
            </a:r>
            <a:endParaRPr lang="en-US" sz="6400" dirty="0"/>
          </a:p>
        </p:txBody>
      </p:sp>
      <p:sp>
        <p:nvSpPr>
          <p:cNvPr id="4" name="Text 2"/>
          <p:cNvSpPr/>
          <p:nvPr/>
        </p:nvSpPr>
        <p:spPr>
          <a:xfrm>
            <a:off x="822960" y="2971800"/>
            <a:ext cx="10515600" cy="548640"/>
          </a:xfrm>
          <a:prstGeom prst="rect">
            <a:avLst/>
          </a:prstGeom>
          <a:noFill/>
          <a:ln/>
        </p:spPr>
        <p:txBody>
          <a:bodyPr wrap="square"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conflated open POI dataset of urban cooling infrastructure</a:t>
            </a:r>
            <a:endParaRPr lang="en-US" sz="2200" dirty="0"/>
          </a:p>
        </p:txBody>
      </p:sp>
      <p:sp>
        <p:nvSpPr>
          <p:cNvPr id="5" name="Shape 3"/>
          <p:cNvSpPr/>
          <p:nvPr/>
        </p:nvSpPr>
        <p:spPr>
          <a:xfrm>
            <a:off x="2189988" y="3977640"/>
            <a:ext cx="786384" cy="786384"/>
          </a:xfrm>
          <a:prstGeom prst="ellipse">
            <a:avLst/>
          </a:prstGeom>
          <a:solidFill>
            <a:srgbClr val="1F78B4"/>
          </a:solidFill>
          <a:ln/>
          <a:effectLst>
            <a:outerShdw sx="100000" sy="100000" kx="0" ky="0" algn="bl" rotWithShape="0" blurRad="88900" dist="25400" dir="2700000">
              <a:srgbClr val="0C4A6E">
                <a:alpha val="16000"/>
              </a:srgbClr>
            </a:outerShdw>
          </a:effectLst>
        </p:spPr>
      </p:sp>
      <p:pic>
        <p:nvPicPr>
          <p:cNvPr id="6" name="Image 0" descr="preencoded.png">    </p:cNvPr>
          <p:cNvPicPr>
            <a:picLocks noChangeAspect="1"/>
          </p:cNvPicPr>
          <p:nvPr/>
        </p:nvPicPr>
        <p:blipFill>
          <a:blip r:embed="rId1"/>
          <a:stretch>
            <a:fillRect/>
          </a:stretch>
        </p:blipFill>
        <p:spPr>
          <a:xfrm>
            <a:off x="2394448" y="4182100"/>
            <a:ext cx="377464" cy="377464"/>
          </a:xfrm>
          <a:prstGeom prst="rect">
            <a:avLst/>
          </a:prstGeom>
        </p:spPr>
      </p:pic>
      <p:sp>
        <p:nvSpPr>
          <p:cNvPr id="7" name="Shape 4"/>
          <p:cNvSpPr/>
          <p:nvPr/>
        </p:nvSpPr>
        <p:spPr>
          <a:xfrm>
            <a:off x="3360420" y="3977640"/>
            <a:ext cx="786384" cy="786384"/>
          </a:xfrm>
          <a:prstGeom prst="ellipse">
            <a:avLst/>
          </a:prstGeom>
          <a:solidFill>
            <a:srgbClr val="2E7D32"/>
          </a:solidFill>
          <a:ln/>
          <a:effectLst>
            <a:outerShdw sx="100000" sy="100000" kx="0" ky="0" algn="bl" rotWithShape="0" blurRad="88900" dist="25400" dir="2700000">
              <a:srgbClr val="0C4A6E">
                <a:alpha val="16000"/>
              </a:srgbClr>
            </a:outerShdw>
          </a:effectLst>
        </p:spPr>
      </p:sp>
      <p:pic>
        <p:nvPicPr>
          <p:cNvPr id="8" name="Image 1" descr="preencoded.png">    </p:cNvPr>
          <p:cNvPicPr>
            <a:picLocks noChangeAspect="1"/>
          </p:cNvPicPr>
          <p:nvPr/>
        </p:nvPicPr>
        <p:blipFill>
          <a:blip r:embed="rId2"/>
          <a:stretch>
            <a:fillRect/>
          </a:stretch>
        </p:blipFill>
        <p:spPr>
          <a:xfrm>
            <a:off x="3564880" y="4182100"/>
            <a:ext cx="377464" cy="377464"/>
          </a:xfrm>
          <a:prstGeom prst="rect">
            <a:avLst/>
          </a:prstGeom>
        </p:spPr>
      </p:pic>
      <p:sp>
        <p:nvSpPr>
          <p:cNvPr id="9" name="Shape 5"/>
          <p:cNvSpPr/>
          <p:nvPr/>
        </p:nvSpPr>
        <p:spPr>
          <a:xfrm>
            <a:off x="4530852" y="3977640"/>
            <a:ext cx="786384" cy="786384"/>
          </a:xfrm>
          <a:prstGeom prst="ellipse">
            <a:avLst/>
          </a:prstGeom>
          <a:solidFill>
            <a:srgbClr val="6A3D9A"/>
          </a:solidFill>
          <a:ln/>
          <a:effectLst>
            <a:outerShdw sx="100000" sy="100000" kx="0" ky="0" algn="bl" rotWithShape="0" blurRad="88900" dist="25400" dir="2700000">
              <a:srgbClr val="0C4A6E">
                <a:alpha val="16000"/>
              </a:srgbClr>
            </a:outerShdw>
          </a:effectLst>
        </p:spPr>
      </p:sp>
      <p:pic>
        <p:nvPicPr>
          <p:cNvPr id="10" name="Image 2" descr="preencoded.png">    </p:cNvPr>
          <p:cNvPicPr>
            <a:picLocks noChangeAspect="1"/>
          </p:cNvPicPr>
          <p:nvPr/>
        </p:nvPicPr>
        <p:blipFill>
          <a:blip r:embed="rId3"/>
          <a:stretch>
            <a:fillRect/>
          </a:stretch>
        </p:blipFill>
        <p:spPr>
          <a:xfrm>
            <a:off x="4735312" y="4182100"/>
            <a:ext cx="377464" cy="377464"/>
          </a:xfrm>
          <a:prstGeom prst="rect">
            <a:avLst/>
          </a:prstGeom>
        </p:spPr>
      </p:pic>
      <p:sp>
        <p:nvSpPr>
          <p:cNvPr id="11" name="Shape 6"/>
          <p:cNvSpPr/>
          <p:nvPr/>
        </p:nvSpPr>
        <p:spPr>
          <a:xfrm>
            <a:off x="5701284" y="3977640"/>
            <a:ext cx="786384" cy="786384"/>
          </a:xfrm>
          <a:prstGeom prst="ellipse">
            <a:avLst/>
          </a:prstGeom>
          <a:solidFill>
            <a:srgbClr val="B7791F"/>
          </a:solidFill>
          <a:ln/>
          <a:effectLst>
            <a:outerShdw sx="100000" sy="100000" kx="0" ky="0" algn="bl" rotWithShape="0" blurRad="88900" dist="25400" dir="2700000">
              <a:srgbClr val="0C4A6E">
                <a:alpha val="16000"/>
              </a:srgbClr>
            </a:outerShdw>
          </a:effectLst>
        </p:spPr>
      </p:sp>
      <p:pic>
        <p:nvPicPr>
          <p:cNvPr id="12" name="Image 3" descr="preencoded.png">    </p:cNvPr>
          <p:cNvPicPr>
            <a:picLocks noChangeAspect="1"/>
          </p:cNvPicPr>
          <p:nvPr/>
        </p:nvPicPr>
        <p:blipFill>
          <a:blip r:embed="rId4"/>
          <a:stretch>
            <a:fillRect/>
          </a:stretch>
        </p:blipFill>
        <p:spPr>
          <a:xfrm>
            <a:off x="5905744" y="4182100"/>
            <a:ext cx="377464" cy="377464"/>
          </a:xfrm>
          <a:prstGeom prst="rect">
            <a:avLst/>
          </a:prstGeom>
        </p:spPr>
      </p:pic>
      <p:sp>
        <p:nvSpPr>
          <p:cNvPr id="13" name="Shape 7"/>
          <p:cNvSpPr/>
          <p:nvPr/>
        </p:nvSpPr>
        <p:spPr>
          <a:xfrm>
            <a:off x="6871716" y="3977640"/>
            <a:ext cx="786384" cy="786384"/>
          </a:xfrm>
          <a:prstGeom prst="ellipse">
            <a:avLst/>
          </a:prstGeom>
          <a:solidFill>
            <a:srgbClr val="1C7293"/>
          </a:solidFill>
          <a:ln/>
          <a:effectLst>
            <a:outerShdw sx="100000" sy="100000" kx="0" ky="0" algn="bl" rotWithShape="0" blurRad="88900" dist="25400" dir="2700000">
              <a:srgbClr val="0C4A6E">
                <a:alpha val="16000"/>
              </a:srgbClr>
            </a:outerShdw>
          </a:effectLst>
        </p:spPr>
      </p:sp>
      <p:pic>
        <p:nvPicPr>
          <p:cNvPr id="14" name="Image 4" descr="preencoded.png">    </p:cNvPr>
          <p:cNvPicPr>
            <a:picLocks noChangeAspect="1"/>
          </p:cNvPicPr>
          <p:nvPr/>
        </p:nvPicPr>
        <p:blipFill>
          <a:blip r:embed="rId5"/>
          <a:stretch>
            <a:fillRect/>
          </a:stretch>
        </p:blipFill>
        <p:spPr>
          <a:xfrm>
            <a:off x="7076176" y="4182100"/>
            <a:ext cx="377464" cy="377464"/>
          </a:xfrm>
          <a:prstGeom prst="rect">
            <a:avLst/>
          </a:prstGeom>
        </p:spPr>
      </p:pic>
      <p:sp>
        <p:nvSpPr>
          <p:cNvPr id="15" name="Shape 8"/>
          <p:cNvSpPr/>
          <p:nvPr/>
        </p:nvSpPr>
        <p:spPr>
          <a:xfrm>
            <a:off x="8042148" y="3977640"/>
            <a:ext cx="786384" cy="786384"/>
          </a:xfrm>
          <a:prstGeom prst="ellipse">
            <a:avLst/>
          </a:prstGeom>
          <a:solidFill>
            <a:srgbClr val="0EA5E9"/>
          </a:solidFill>
          <a:ln/>
          <a:effectLst>
            <a:outerShdw sx="100000" sy="100000" kx="0" ky="0" algn="bl" rotWithShape="0" blurRad="88900" dist="25400" dir="2700000">
              <a:srgbClr val="0C4A6E">
                <a:alpha val="16000"/>
              </a:srgbClr>
            </a:outerShdw>
          </a:effectLst>
        </p:spPr>
      </p:sp>
      <p:pic>
        <p:nvPicPr>
          <p:cNvPr id="16" name="Image 5" descr="preencoded.png">    </p:cNvPr>
          <p:cNvPicPr>
            <a:picLocks noChangeAspect="1"/>
          </p:cNvPicPr>
          <p:nvPr/>
        </p:nvPicPr>
        <p:blipFill>
          <a:blip r:embed="rId6"/>
          <a:stretch>
            <a:fillRect/>
          </a:stretch>
        </p:blipFill>
        <p:spPr>
          <a:xfrm>
            <a:off x="8246608" y="4182100"/>
            <a:ext cx="377464" cy="377464"/>
          </a:xfrm>
          <a:prstGeom prst="rect">
            <a:avLst/>
          </a:prstGeom>
        </p:spPr>
      </p:pic>
      <p:sp>
        <p:nvSpPr>
          <p:cNvPr id="17" name="Shape 9"/>
          <p:cNvSpPr/>
          <p:nvPr/>
        </p:nvSpPr>
        <p:spPr>
          <a:xfrm>
            <a:off x="9212580" y="3977640"/>
            <a:ext cx="786384" cy="786384"/>
          </a:xfrm>
          <a:prstGeom prst="ellipse">
            <a:avLst/>
          </a:prstGeom>
          <a:solidFill>
            <a:srgbClr val="06B6D4"/>
          </a:solidFill>
          <a:ln/>
          <a:effectLst>
            <a:outerShdw sx="100000" sy="100000" kx="0" ky="0" algn="bl" rotWithShape="0" blurRad="88900" dist="25400" dir="2700000">
              <a:srgbClr val="0C4A6E">
                <a:alpha val="16000"/>
              </a:srgbClr>
            </a:outerShdw>
          </a:effectLst>
        </p:spPr>
      </p:sp>
      <p:pic>
        <p:nvPicPr>
          <p:cNvPr id="18" name="Image 6" descr="preencoded.png">    </p:cNvPr>
          <p:cNvPicPr>
            <a:picLocks noChangeAspect="1"/>
          </p:cNvPicPr>
          <p:nvPr/>
        </p:nvPicPr>
        <p:blipFill>
          <a:blip r:embed="rId7"/>
          <a:stretch>
            <a:fillRect/>
          </a:stretch>
        </p:blipFill>
        <p:spPr>
          <a:xfrm>
            <a:off x="9417040" y="4182100"/>
            <a:ext cx="377464" cy="377464"/>
          </a:xfrm>
          <a:prstGeom prst="rect">
            <a:avLst/>
          </a:prstGeom>
        </p:spPr>
      </p:pic>
      <p:sp>
        <p:nvSpPr>
          <p:cNvPr id="19" name="Text 10"/>
          <p:cNvSpPr/>
          <p:nvPr/>
        </p:nvSpPr>
        <p:spPr>
          <a:xfrm>
            <a:off x="822960" y="5989320"/>
            <a:ext cx="10515600" cy="36576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Mattis     |     Team 5     |     Places of Interest and VGI     |     Prof. K. Janowicz     |     University of Vienna     |     June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27080" y="411480"/>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3" name="Image 0" descr="preencoded.png">    </p:cNvPr>
          <p:cNvPicPr>
            <a:picLocks noChangeAspect="1"/>
          </p:cNvPicPr>
          <p:nvPr/>
        </p:nvPicPr>
        <p:blipFill>
          <a:blip r:embed="rId1"/>
          <a:stretch>
            <a:fillRect/>
          </a:stretch>
        </p:blipFill>
        <p:spPr>
          <a:xfrm>
            <a:off x="11098256" y="582656"/>
            <a:ext cx="316017" cy="316017"/>
          </a:xfrm>
          <a:prstGeom prst="rect">
            <a:avLst/>
          </a:prstGeom>
        </p:spPr>
      </p:pic>
      <p:sp>
        <p:nvSpPr>
          <p:cNvPr id="4" name="Text 1"/>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Motivation</a:t>
            </a:r>
            <a:endParaRPr lang="en-US" sz="3200" dirty="0"/>
          </a:p>
        </p:txBody>
      </p:sp>
      <p:sp>
        <p:nvSpPr>
          <p:cNvPr id="5" name="Text 2"/>
          <p:cNvSpPr/>
          <p:nvPr/>
        </p:nvSpPr>
        <p:spPr>
          <a:xfrm>
            <a:off x="640080" y="1417320"/>
            <a:ext cx="6309360" cy="4206240"/>
          </a:xfrm>
          <a:prstGeom prst="rect">
            <a:avLst/>
          </a:prstGeom>
          <a:noFill/>
          <a:ln/>
        </p:spPr>
        <p:txBody>
          <a:bodyPr wrap="square" rtlCol="0" anchor="t"/>
          <a:lstStyle/>
          <a:p>
            <a:pPr marL="342900" indent="-342900">
              <a:lnSpc>
                <a:spcPct val="105000"/>
              </a:lnSpc>
              <a:spcAft>
                <a:spcPts val="1200"/>
              </a:spcAft>
              <a:buSzPct val="100000"/>
              <a:buChar char="•"/>
            </a:pPr>
            <a:r>
              <a:rPr lang="en-US" sz="1650" dirty="0">
                <a:solidFill>
                  <a:srgbClr val="1E293B"/>
                </a:solidFill>
                <a:latin typeface="Calibri" pitchFamily="34" charset="0"/>
                <a:ea typeface="Calibri" pitchFamily="34" charset="-122"/>
                <a:cs typeface="Calibri" pitchFamily="34" charset="-120"/>
              </a:rPr>
              <a:t>Graz faces more frequent and intense summer heatwaves.</a:t>
            </a:r>
            <a:endParaRPr lang="en-US" sz="1650" dirty="0"/>
          </a:p>
          <a:p>
            <a:pPr marL="342900" indent="-342900">
              <a:lnSpc>
                <a:spcPct val="105000"/>
              </a:lnSpc>
              <a:spcAft>
                <a:spcPts val="1200"/>
              </a:spcAft>
              <a:buSzPct val="100000"/>
              <a:buChar char="•"/>
            </a:pPr>
            <a:r>
              <a:rPr lang="en-US" sz="1650" dirty="0">
                <a:solidFill>
                  <a:srgbClr val="1E293B"/>
                </a:solidFill>
                <a:latin typeface="Calibri" pitchFamily="34" charset="0"/>
                <a:ea typeface="Calibri" pitchFamily="34" charset="-122"/>
                <a:cs typeface="Calibri" pitchFamily="34" charset="-120"/>
              </a:rPr>
              <a:t>The City runs an official campaign, „Orte der Abkühlung / Coole Räume“, but it points to only 10 inner-city churches and 3 climate-controlled libraries.</a:t>
            </a:r>
            <a:endParaRPr lang="en-US" sz="1650" dirty="0"/>
          </a:p>
          <a:p>
            <a:pPr marL="342900" indent="-342900">
              <a:lnSpc>
                <a:spcPct val="105000"/>
              </a:lnSpc>
              <a:spcAft>
                <a:spcPts val="1200"/>
              </a:spcAft>
              <a:buSzPct val="100000"/>
              <a:buChar char="•"/>
            </a:pPr>
            <a:r>
              <a:rPr lang="en-US" sz="1650" dirty="0">
                <a:solidFill>
                  <a:srgbClr val="1E293B"/>
                </a:solidFill>
                <a:latin typeface="Calibri" pitchFamily="34" charset="0"/>
                <a:ea typeface="Calibri" pitchFamily="34" charset="-122"/>
                <a:cs typeface="Calibri" pitchFamily="34" charset="-120"/>
              </a:rPr>
              <a:t>That list is not published as structured open data, and it ignores other free cooling infrastructure: roughly 172 drinking fountains, 88 parks, plus pools, water playgrounds and spray installations.</a:t>
            </a:r>
            <a:endParaRPr lang="en-US" sz="1650" dirty="0"/>
          </a:p>
          <a:p>
            <a:pPr marL="342900" indent="-342900">
              <a:lnSpc>
                <a:spcPct val="105000"/>
              </a:lnSpc>
              <a:buSzPct val="100000"/>
              <a:buChar char="•"/>
            </a:pPr>
            <a:r>
              <a:rPr lang="en-US" sz="1650" dirty="0">
                <a:solidFill>
                  <a:srgbClr val="1E293B"/>
                </a:solidFill>
                <a:latin typeface="Calibri" pitchFamily="34" charset="0"/>
                <a:ea typeface="Calibri" pitchFamily="34" charset="-122"/>
                <a:cs typeface="Calibri" pitchFamily="34" charset="-120"/>
              </a:rPr>
              <a:t>No single dataset answers a simple resident question.</a:t>
            </a:r>
            <a:endParaRPr lang="en-US" sz="1650" dirty="0"/>
          </a:p>
        </p:txBody>
      </p:sp>
      <p:sp>
        <p:nvSpPr>
          <p:cNvPr id="6" name="Shape 3"/>
          <p:cNvSpPr/>
          <p:nvPr/>
        </p:nvSpPr>
        <p:spPr>
          <a:xfrm>
            <a:off x="7315200" y="1554480"/>
            <a:ext cx="4297680" cy="3840480"/>
          </a:xfrm>
          <a:prstGeom prst="roundRect">
            <a:avLst>
              <a:gd name="adj" fmla="val 2857"/>
            </a:avLst>
          </a:prstGeom>
          <a:solidFill>
            <a:srgbClr val="0C4A6E"/>
          </a:solidFill>
          <a:ln/>
          <a:effectLst>
            <a:outerShdw sx="100000" sy="100000" kx="0" ky="0" algn="bl" rotWithShape="0" blurRad="88900" dist="25400" dir="2700000">
              <a:srgbClr val="0C4A6E">
                <a:alpha val="16000"/>
              </a:srgbClr>
            </a:outerShdw>
          </a:effectLst>
        </p:spPr>
      </p:sp>
      <p:sp>
        <p:nvSpPr>
          <p:cNvPr id="7" name="Text 4"/>
          <p:cNvSpPr/>
          <p:nvPr/>
        </p:nvSpPr>
        <p:spPr>
          <a:xfrm>
            <a:off x="7589520" y="1828800"/>
            <a:ext cx="3749040" cy="320040"/>
          </a:xfrm>
          <a:prstGeom prst="rect">
            <a:avLst/>
          </a:prstGeom>
          <a:noFill/>
          <a:ln/>
        </p:spPr>
        <p:txBody>
          <a:bodyPr wrap="square"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THE DRIVING QUESTION</a:t>
            </a:r>
            <a:endParaRPr lang="en-US" sz="1200" dirty="0"/>
          </a:p>
        </p:txBody>
      </p:sp>
      <p:sp>
        <p:nvSpPr>
          <p:cNvPr id="8" name="Text 5"/>
          <p:cNvSpPr/>
          <p:nvPr/>
        </p:nvSpPr>
        <p:spPr>
          <a:xfrm>
            <a:off x="7589520" y="2240280"/>
            <a:ext cx="3749040" cy="1828800"/>
          </a:xfrm>
          <a:prstGeom prst="rect">
            <a:avLst/>
          </a:prstGeom>
          <a:noFill/>
          <a:ln/>
        </p:spPr>
        <p:txBody>
          <a:bodyPr wrap="square" rtlCol="0" anchor="t"/>
          <a:lstStyle/>
          <a:p>
            <a:pPr indent="0" marL="0">
              <a:buNone/>
            </a:pPr>
            <a:r>
              <a:rPr lang="en-US" sz="2200" i="1" dirty="0">
                <a:solidFill>
                  <a:srgbClr val="FFFFFF"/>
                </a:solidFill>
                <a:latin typeface="Cambria" pitchFamily="34" charset="0"/>
                <a:ea typeface="Cambria" pitchFamily="34" charset="-122"/>
                <a:cs typeface="Cambria" pitchFamily="34" charset="-120"/>
              </a:rPr>
              <a:t>“It's 35°C in Graz. Where can I cool down, and which spots are part of the official program?”</a:t>
            </a:r>
            <a:endParaRPr lang="en-US" sz="2200" dirty="0"/>
          </a:p>
        </p:txBody>
      </p:sp>
      <p:sp>
        <p:nvSpPr>
          <p:cNvPr id="9" name="Shape 6"/>
          <p:cNvSpPr/>
          <p:nvPr/>
        </p:nvSpPr>
        <p:spPr>
          <a:xfrm>
            <a:off x="7589520" y="4297680"/>
            <a:ext cx="3749040" cy="0"/>
          </a:xfrm>
          <a:prstGeom prst="line">
            <a:avLst/>
          </a:prstGeom>
          <a:noFill/>
          <a:ln w="19050">
            <a:solidFill>
              <a:srgbClr val="1C7293"/>
            </a:solidFill>
            <a:prstDash val="solid"/>
          </a:ln>
        </p:spPr>
      </p:sp>
      <p:sp>
        <p:nvSpPr>
          <p:cNvPr id="10" name="Text 7"/>
          <p:cNvSpPr/>
          <p:nvPr/>
        </p:nvSpPr>
        <p:spPr>
          <a:xfrm>
            <a:off x="7589520" y="4480560"/>
            <a:ext cx="3749040" cy="822960"/>
          </a:xfrm>
          <a:prstGeom prst="rect">
            <a:avLst/>
          </a:prstGeom>
          <a:noFill/>
          <a:ln/>
        </p:spPr>
        <p:txBody>
          <a:bodyPr wrap="square" rtlCol="0" anchor="ctr"/>
          <a:lstStyle/>
          <a:p>
            <a:pPr indent="0" marL="0">
              <a:buNone/>
            </a:pPr>
            <a:r>
              <a:rPr lang="en-US" sz="3000" b="1" dirty="0">
                <a:solidFill>
                  <a:srgbClr val="E31A1C"/>
                </a:solidFill>
                <a:latin typeface="Calibri" pitchFamily="34" charset="0"/>
                <a:ea typeface="Calibri" pitchFamily="34" charset="-122"/>
                <a:cs typeface="Calibri" pitchFamily="34" charset="-120"/>
              </a:rPr>
              <a:t>13</a:t>
            </a:r>
            <a:pPr indent="0" marL="0">
              <a:buNone/>
            </a:pPr>
            <a:r>
              <a:rPr lang="en-US" sz="1500" dirty="0">
                <a:solidFill>
                  <a:srgbClr val="CADCFC"/>
                </a:solidFill>
                <a:latin typeface="Calibri" pitchFamily="34" charset="0"/>
                <a:ea typeface="Calibri" pitchFamily="34" charset="-122"/>
                <a:cs typeface="Calibri" pitchFamily="34" charset="-120"/>
              </a:rPr>
              <a:t>  official spots vs.  </a:t>
            </a:r>
            <a:pPr indent="0" marL="0">
              <a:buNone/>
            </a:pPr>
            <a:r>
              <a:rPr lang="en-US" sz="3000" b="1" dirty="0">
                <a:solidFill>
                  <a:srgbClr val="FFFFFF"/>
                </a:solidFill>
                <a:latin typeface="Calibri" pitchFamily="34" charset="0"/>
                <a:ea typeface="Calibri" pitchFamily="34" charset="-122"/>
                <a:cs typeface="Calibri" pitchFamily="34" charset="-120"/>
              </a:rPr>
              <a:t>291</a:t>
            </a:r>
            <a:pPr indent="0" marL="0">
              <a:buNone/>
            </a:pPr>
            <a:r>
              <a:rPr lang="en-US" sz="1500" dirty="0">
                <a:solidFill>
                  <a:srgbClr val="CADCFC"/>
                </a:solidFill>
                <a:latin typeface="Calibri" pitchFamily="34" charset="0"/>
                <a:ea typeface="Calibri" pitchFamily="34" charset="-122"/>
                <a:cs typeface="Calibri" pitchFamily="34" charset="-120"/>
              </a:rPr>
              <a:t>  total cooling spots</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The dataset at a glance</a:t>
            </a:r>
            <a:endParaRPr lang="en-US" sz="3200" dirty="0"/>
          </a:p>
        </p:txBody>
      </p:sp>
      <p:sp>
        <p:nvSpPr>
          <p:cNvPr id="3" name="Shape 1"/>
          <p:cNvSpPr/>
          <p:nvPr/>
        </p:nvSpPr>
        <p:spPr>
          <a:xfrm>
            <a:off x="292608" y="1554480"/>
            <a:ext cx="2606040" cy="2423160"/>
          </a:xfrm>
          <a:prstGeom prst="roundRect">
            <a:avLst>
              <a:gd name="adj" fmla="val 3774"/>
            </a:avLst>
          </a:prstGeom>
          <a:solidFill>
            <a:srgbClr val="EAF3F7"/>
          </a:solidFill>
          <a:ln/>
          <a:effectLst>
            <a:outerShdw sx="100000" sy="100000" kx="0" ky="0" algn="bl" rotWithShape="0" blurRad="88900" dist="25400" dir="2700000">
              <a:srgbClr val="0C4A6E">
                <a:alpha val="16000"/>
              </a:srgbClr>
            </a:outerShdw>
          </a:effectLst>
        </p:spPr>
      </p:sp>
      <p:sp>
        <p:nvSpPr>
          <p:cNvPr id="4" name="Shape 2"/>
          <p:cNvSpPr/>
          <p:nvPr/>
        </p:nvSpPr>
        <p:spPr>
          <a:xfrm>
            <a:off x="1211580" y="1847088"/>
            <a:ext cx="768096" cy="768096"/>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5" name="Image 0" descr="preencoded.png">    </p:cNvPr>
          <p:cNvPicPr>
            <a:picLocks noChangeAspect="1"/>
          </p:cNvPicPr>
          <p:nvPr/>
        </p:nvPicPr>
        <p:blipFill>
          <a:blip r:embed="rId1"/>
          <a:stretch>
            <a:fillRect/>
          </a:stretch>
        </p:blipFill>
        <p:spPr>
          <a:xfrm>
            <a:off x="1411285" y="2046793"/>
            <a:ext cx="368686" cy="368686"/>
          </a:xfrm>
          <a:prstGeom prst="rect">
            <a:avLst/>
          </a:prstGeom>
        </p:spPr>
      </p:pic>
      <p:sp>
        <p:nvSpPr>
          <p:cNvPr id="6" name="Text 3"/>
          <p:cNvSpPr/>
          <p:nvPr/>
        </p:nvSpPr>
        <p:spPr>
          <a:xfrm>
            <a:off x="292608" y="2633472"/>
            <a:ext cx="2606040" cy="868680"/>
          </a:xfrm>
          <a:prstGeom prst="rect">
            <a:avLst/>
          </a:prstGeom>
          <a:noFill/>
          <a:ln/>
        </p:spPr>
        <p:txBody>
          <a:bodyPr wrap="square" lIns="0" tIns="0" rIns="0" bIns="0" rtlCol="0" anchor="ctr"/>
          <a:lstStyle/>
          <a:p>
            <a:pPr algn="ctr" indent="0" marL="0">
              <a:buNone/>
            </a:pPr>
            <a:r>
              <a:rPr lang="en-US" sz="5200" b="1" dirty="0">
                <a:solidFill>
                  <a:srgbClr val="1C7293"/>
                </a:solidFill>
                <a:latin typeface="Cambria" pitchFamily="34" charset="0"/>
                <a:ea typeface="Cambria" pitchFamily="34" charset="-122"/>
                <a:cs typeface="Cambria" pitchFamily="34" charset="-120"/>
              </a:rPr>
              <a:t>291</a:t>
            </a:r>
            <a:endParaRPr lang="en-US" sz="5200" dirty="0"/>
          </a:p>
        </p:txBody>
      </p:sp>
      <p:sp>
        <p:nvSpPr>
          <p:cNvPr id="7" name="Text 4"/>
          <p:cNvSpPr/>
          <p:nvPr/>
        </p:nvSpPr>
        <p:spPr>
          <a:xfrm>
            <a:off x="429768" y="3456432"/>
            <a:ext cx="233172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records (POI)</a:t>
            </a:r>
            <a:endParaRPr lang="en-US" sz="1400" dirty="0"/>
          </a:p>
        </p:txBody>
      </p:sp>
      <p:sp>
        <p:nvSpPr>
          <p:cNvPr id="8" name="Shape 5"/>
          <p:cNvSpPr/>
          <p:nvPr/>
        </p:nvSpPr>
        <p:spPr>
          <a:xfrm>
            <a:off x="3291840" y="1554480"/>
            <a:ext cx="2606040" cy="2423160"/>
          </a:xfrm>
          <a:prstGeom prst="roundRect">
            <a:avLst>
              <a:gd name="adj" fmla="val 3774"/>
            </a:avLst>
          </a:prstGeom>
          <a:solidFill>
            <a:srgbClr val="EAF3F7"/>
          </a:solidFill>
          <a:ln/>
          <a:effectLst>
            <a:outerShdw sx="100000" sy="100000" kx="0" ky="0" algn="bl" rotWithShape="0" blurRad="88900" dist="25400" dir="2700000">
              <a:srgbClr val="0C4A6E">
                <a:alpha val="16000"/>
              </a:srgbClr>
            </a:outerShdw>
          </a:effectLst>
        </p:spPr>
      </p:sp>
      <p:sp>
        <p:nvSpPr>
          <p:cNvPr id="9" name="Shape 6"/>
          <p:cNvSpPr/>
          <p:nvPr/>
        </p:nvSpPr>
        <p:spPr>
          <a:xfrm>
            <a:off x="4210812" y="1847088"/>
            <a:ext cx="768096" cy="768096"/>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0" name="Image 1" descr="preencoded.png">    </p:cNvPr>
          <p:cNvPicPr>
            <a:picLocks noChangeAspect="1"/>
          </p:cNvPicPr>
          <p:nvPr/>
        </p:nvPicPr>
        <p:blipFill>
          <a:blip r:embed="rId2"/>
          <a:stretch>
            <a:fillRect/>
          </a:stretch>
        </p:blipFill>
        <p:spPr>
          <a:xfrm>
            <a:off x="4410517" y="2046793"/>
            <a:ext cx="368686" cy="368686"/>
          </a:xfrm>
          <a:prstGeom prst="rect">
            <a:avLst/>
          </a:prstGeom>
        </p:spPr>
      </p:pic>
      <p:sp>
        <p:nvSpPr>
          <p:cNvPr id="11" name="Text 7"/>
          <p:cNvSpPr/>
          <p:nvPr/>
        </p:nvSpPr>
        <p:spPr>
          <a:xfrm>
            <a:off x="3291840" y="2633472"/>
            <a:ext cx="2606040" cy="868680"/>
          </a:xfrm>
          <a:prstGeom prst="rect">
            <a:avLst/>
          </a:prstGeom>
          <a:noFill/>
          <a:ln/>
        </p:spPr>
        <p:txBody>
          <a:bodyPr wrap="square" lIns="0" tIns="0" rIns="0" bIns="0" rtlCol="0" anchor="ctr"/>
          <a:lstStyle/>
          <a:p>
            <a:pPr algn="ctr" indent="0" marL="0">
              <a:buNone/>
            </a:pPr>
            <a:r>
              <a:rPr lang="en-US" sz="5200" b="1" dirty="0">
                <a:solidFill>
                  <a:srgbClr val="1F78B4"/>
                </a:solidFill>
                <a:latin typeface="Cambria" pitchFamily="34" charset="0"/>
                <a:ea typeface="Cambria" pitchFamily="34" charset="-122"/>
                <a:cs typeface="Cambria" pitchFamily="34" charset="-120"/>
              </a:rPr>
              <a:t>8</a:t>
            </a:r>
            <a:endParaRPr lang="en-US" sz="5200" dirty="0"/>
          </a:p>
        </p:txBody>
      </p:sp>
      <p:sp>
        <p:nvSpPr>
          <p:cNvPr id="12" name="Text 8"/>
          <p:cNvSpPr/>
          <p:nvPr/>
        </p:nvSpPr>
        <p:spPr>
          <a:xfrm>
            <a:off x="3429000" y="3456432"/>
            <a:ext cx="233172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cooling-spot types</a:t>
            </a:r>
            <a:endParaRPr lang="en-US" sz="1400" dirty="0"/>
          </a:p>
        </p:txBody>
      </p:sp>
      <p:sp>
        <p:nvSpPr>
          <p:cNvPr id="13" name="Shape 9"/>
          <p:cNvSpPr/>
          <p:nvPr/>
        </p:nvSpPr>
        <p:spPr>
          <a:xfrm>
            <a:off x="6291072" y="1554480"/>
            <a:ext cx="2606040" cy="2423160"/>
          </a:xfrm>
          <a:prstGeom prst="roundRect">
            <a:avLst>
              <a:gd name="adj" fmla="val 3774"/>
            </a:avLst>
          </a:prstGeom>
          <a:solidFill>
            <a:srgbClr val="EAF3F7"/>
          </a:solidFill>
          <a:ln/>
          <a:effectLst>
            <a:outerShdw sx="100000" sy="100000" kx="0" ky="0" algn="bl" rotWithShape="0" blurRad="88900" dist="25400" dir="2700000">
              <a:srgbClr val="0C4A6E">
                <a:alpha val="16000"/>
              </a:srgbClr>
            </a:outerShdw>
          </a:effectLst>
        </p:spPr>
      </p:sp>
      <p:sp>
        <p:nvSpPr>
          <p:cNvPr id="14" name="Shape 10"/>
          <p:cNvSpPr/>
          <p:nvPr/>
        </p:nvSpPr>
        <p:spPr>
          <a:xfrm>
            <a:off x="7210044" y="1847088"/>
            <a:ext cx="768096" cy="768096"/>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5" name="Image 2" descr="preencoded.png">    </p:cNvPr>
          <p:cNvPicPr>
            <a:picLocks noChangeAspect="1"/>
          </p:cNvPicPr>
          <p:nvPr/>
        </p:nvPicPr>
        <p:blipFill>
          <a:blip r:embed="rId3"/>
          <a:stretch>
            <a:fillRect/>
          </a:stretch>
        </p:blipFill>
        <p:spPr>
          <a:xfrm>
            <a:off x="7409749" y="2046793"/>
            <a:ext cx="368686" cy="368686"/>
          </a:xfrm>
          <a:prstGeom prst="rect">
            <a:avLst/>
          </a:prstGeom>
        </p:spPr>
      </p:pic>
      <p:sp>
        <p:nvSpPr>
          <p:cNvPr id="16" name="Text 11"/>
          <p:cNvSpPr/>
          <p:nvPr/>
        </p:nvSpPr>
        <p:spPr>
          <a:xfrm>
            <a:off x="6291072" y="2633472"/>
            <a:ext cx="2606040" cy="868680"/>
          </a:xfrm>
          <a:prstGeom prst="rect">
            <a:avLst/>
          </a:prstGeom>
          <a:noFill/>
          <a:ln/>
        </p:spPr>
        <p:txBody>
          <a:bodyPr wrap="square" lIns="0" tIns="0" rIns="0" bIns="0" rtlCol="0" anchor="ctr"/>
          <a:lstStyle/>
          <a:p>
            <a:pPr algn="ctr" indent="0" marL="0">
              <a:buNone/>
            </a:pPr>
            <a:r>
              <a:rPr lang="en-US" sz="5200" b="1" dirty="0">
                <a:solidFill>
                  <a:srgbClr val="1C7293"/>
                </a:solidFill>
                <a:latin typeface="Cambria" pitchFamily="34" charset="0"/>
                <a:ea typeface="Cambria" pitchFamily="34" charset="-122"/>
                <a:cs typeface="Cambria" pitchFamily="34" charset="-120"/>
              </a:rPr>
              <a:t>12</a:t>
            </a:r>
            <a:endParaRPr lang="en-US" sz="5200" dirty="0"/>
          </a:p>
        </p:txBody>
      </p:sp>
      <p:sp>
        <p:nvSpPr>
          <p:cNvPr id="17" name="Text 12"/>
          <p:cNvSpPr/>
          <p:nvPr/>
        </p:nvSpPr>
        <p:spPr>
          <a:xfrm>
            <a:off x="6428232" y="3456432"/>
            <a:ext cx="233172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attributes (incl. location)</a:t>
            </a:r>
            <a:endParaRPr lang="en-US" sz="1400" dirty="0"/>
          </a:p>
        </p:txBody>
      </p:sp>
      <p:sp>
        <p:nvSpPr>
          <p:cNvPr id="18" name="Shape 13"/>
          <p:cNvSpPr/>
          <p:nvPr/>
        </p:nvSpPr>
        <p:spPr>
          <a:xfrm>
            <a:off x="9290304" y="1554480"/>
            <a:ext cx="2606040" cy="2423160"/>
          </a:xfrm>
          <a:prstGeom prst="roundRect">
            <a:avLst>
              <a:gd name="adj" fmla="val 3774"/>
            </a:avLst>
          </a:prstGeom>
          <a:solidFill>
            <a:srgbClr val="EAF3F7"/>
          </a:solidFill>
          <a:ln/>
          <a:effectLst>
            <a:outerShdw sx="100000" sy="100000" kx="0" ky="0" algn="bl" rotWithShape="0" blurRad="88900" dist="25400" dir="2700000">
              <a:srgbClr val="0C4A6E">
                <a:alpha val="16000"/>
              </a:srgbClr>
            </a:outerShdw>
          </a:effectLst>
        </p:spPr>
      </p:sp>
      <p:sp>
        <p:nvSpPr>
          <p:cNvPr id="19" name="Shape 14"/>
          <p:cNvSpPr/>
          <p:nvPr/>
        </p:nvSpPr>
        <p:spPr>
          <a:xfrm>
            <a:off x="10209276" y="1847088"/>
            <a:ext cx="768096" cy="768096"/>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20" name="Image 3" descr="preencoded.png">    </p:cNvPr>
          <p:cNvPicPr>
            <a:picLocks noChangeAspect="1"/>
          </p:cNvPicPr>
          <p:nvPr/>
        </p:nvPicPr>
        <p:blipFill>
          <a:blip r:embed="rId4"/>
          <a:stretch>
            <a:fillRect/>
          </a:stretch>
        </p:blipFill>
        <p:spPr>
          <a:xfrm>
            <a:off x="10408981" y="2046793"/>
            <a:ext cx="368686" cy="368686"/>
          </a:xfrm>
          <a:prstGeom prst="rect">
            <a:avLst/>
          </a:prstGeom>
        </p:spPr>
      </p:pic>
      <p:sp>
        <p:nvSpPr>
          <p:cNvPr id="21" name="Text 15"/>
          <p:cNvSpPr/>
          <p:nvPr/>
        </p:nvSpPr>
        <p:spPr>
          <a:xfrm>
            <a:off x="9290304" y="2633472"/>
            <a:ext cx="2606040" cy="868680"/>
          </a:xfrm>
          <a:prstGeom prst="rect">
            <a:avLst/>
          </a:prstGeom>
          <a:noFill/>
          <a:ln/>
        </p:spPr>
        <p:txBody>
          <a:bodyPr wrap="square" lIns="0" tIns="0" rIns="0" bIns="0" rtlCol="0" anchor="ctr"/>
          <a:lstStyle/>
          <a:p>
            <a:pPr algn="ctr" indent="0" marL="0">
              <a:buNone/>
            </a:pPr>
            <a:r>
              <a:rPr lang="en-US" sz="5200" b="1" dirty="0">
                <a:solidFill>
                  <a:srgbClr val="E31A1C"/>
                </a:solidFill>
                <a:latin typeface="Cambria" pitchFamily="34" charset="0"/>
                <a:ea typeface="Cambria" pitchFamily="34" charset="-122"/>
                <a:cs typeface="Cambria" pitchFamily="34" charset="-120"/>
              </a:rPr>
              <a:t>13</a:t>
            </a:r>
            <a:endParaRPr lang="en-US" sz="5200" dirty="0"/>
          </a:p>
        </p:txBody>
      </p:sp>
      <p:sp>
        <p:nvSpPr>
          <p:cNvPr id="22" name="Text 16"/>
          <p:cNvSpPr/>
          <p:nvPr/>
        </p:nvSpPr>
        <p:spPr>
          <a:xfrm>
            <a:off x="9427464" y="3456432"/>
            <a:ext cx="233172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official “Coole Räume”</a:t>
            </a:r>
            <a:endParaRPr lang="en-US" sz="1400" dirty="0"/>
          </a:p>
        </p:txBody>
      </p:sp>
      <p:sp>
        <p:nvSpPr>
          <p:cNvPr id="23" name="Shape 17"/>
          <p:cNvSpPr/>
          <p:nvPr/>
        </p:nvSpPr>
        <p:spPr>
          <a:xfrm>
            <a:off x="822960" y="4343400"/>
            <a:ext cx="10515600" cy="1417320"/>
          </a:xfrm>
          <a:prstGeom prst="roundRect">
            <a:avLst>
              <a:gd name="adj" fmla="val 6452"/>
            </a:avLst>
          </a:prstGeom>
          <a:solidFill>
            <a:srgbClr val="F4F9FB"/>
          </a:solidFill>
          <a:ln/>
        </p:spPr>
      </p:sp>
      <p:pic>
        <p:nvPicPr>
          <p:cNvPr id="24" name="Image 4" descr="preencoded.png">    </p:cNvPr>
          <p:cNvPicPr>
            <a:picLocks noChangeAspect="1"/>
          </p:cNvPicPr>
          <p:nvPr/>
        </p:nvPicPr>
        <p:blipFill>
          <a:blip r:embed="rId5"/>
          <a:stretch>
            <a:fillRect/>
          </a:stretch>
        </p:blipFill>
        <p:spPr>
          <a:xfrm>
            <a:off x="1143000" y="4617720"/>
            <a:ext cx="457200" cy="457200"/>
          </a:xfrm>
          <a:prstGeom prst="rect">
            <a:avLst/>
          </a:prstGeom>
        </p:spPr>
      </p:pic>
      <p:sp>
        <p:nvSpPr>
          <p:cNvPr id="25" name="Text 18"/>
          <p:cNvSpPr/>
          <p:nvPr/>
        </p:nvSpPr>
        <p:spPr>
          <a:xfrm>
            <a:off x="1783080" y="4480560"/>
            <a:ext cx="9326880" cy="1188720"/>
          </a:xfrm>
          <a:prstGeom prst="rect">
            <a:avLst/>
          </a:prstGeom>
          <a:noFill/>
          <a:ln/>
        </p:spPr>
        <p:txBody>
          <a:bodyPr wrap="square" rtlCol="0" anchor="ctr"/>
          <a:lstStyle/>
          <a:p>
            <a:pPr indent="0" marL="0">
              <a:lnSpc>
                <a:spcPct val="108000"/>
              </a:lnSpc>
              <a:buNone/>
            </a:pPr>
            <a:r>
              <a:rPr lang="en-US" sz="1500" b="1" dirty="0">
                <a:solidFill>
                  <a:srgbClr val="0C4A6E"/>
                </a:solidFill>
                <a:latin typeface="Calibri" pitchFamily="34" charset="0"/>
                <a:ea typeface="Calibri" pitchFamily="34" charset="-122"/>
                <a:cs typeface="Calibri" pitchFamily="34" charset="-120"/>
              </a:rPr>
              <a:t>Meets the seminar criteria. </a:t>
            </a:r>
            <a:pPr indent="0" marL="0">
              <a:lnSpc>
                <a:spcPct val="108000"/>
              </a:lnSpc>
              <a:buNone/>
            </a:pPr>
            <a:r>
              <a:rPr lang="en-US" sz="1500" dirty="0">
                <a:solidFill>
                  <a:srgbClr val="1E293B"/>
                </a:solidFill>
                <a:latin typeface="Calibri" pitchFamily="34" charset="0"/>
                <a:ea typeface="Calibri" pitchFamily="34" charset="-122"/>
                <a:cs typeface="Calibri" pitchFamily="34" charset="-120"/>
              </a:rPr>
              <a:t>50+ records and 4+ attributes including location. Open, interoperable formats: </a:t>
            </a:r>
            <a:pPr indent="0" marL="0">
              <a:lnSpc>
                <a:spcPct val="108000"/>
              </a:lnSpc>
              <a:buNone/>
            </a:pPr>
            <a:r>
              <a:rPr lang="en-US" sz="1500" b="1" dirty="0">
                <a:solidFill>
                  <a:srgbClr val="1C7293"/>
                </a:solidFill>
                <a:latin typeface="Calibri" pitchFamily="34" charset="0"/>
                <a:ea typeface="Calibri" pitchFamily="34" charset="-122"/>
                <a:cs typeface="Calibri" pitchFamily="34" charset="-120"/>
              </a:rPr>
              <a:t>CSV + GeoJSON</a:t>
            </a:r>
            <a:pPr indent="0" marL="0">
              <a:lnSpc>
                <a:spcPct val="108000"/>
              </a:lnSpc>
              <a:buNone/>
            </a:pPr>
            <a:r>
              <a:rPr lang="en-US" sz="1500" dirty="0">
                <a:solidFill>
                  <a:srgbClr val="1E293B"/>
                </a:solidFill>
                <a:latin typeface="Calibri" pitchFamily="34" charset="0"/>
                <a:ea typeface="Calibri" pitchFamily="34" charset="-122"/>
                <a:cs typeface="Calibri" pitchFamily="34" charset="-120"/>
              </a:rPr>
              <a:t> (WGS84 / EPSG:4326), ready for QGIS and web maps. Documented metadata: source, license, collection method and update strategy.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Eight types of cooling spot</a:t>
            </a:r>
            <a:endParaRPr lang="en-US" sz="32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Composition of the 291 records, with icons reused from the live map for consistency</a:t>
            </a:r>
            <a:endParaRPr lang="en-US" sz="1400" dirty="0"/>
          </a:p>
        </p:txBody>
      </p:sp>
      <p:sp>
        <p:nvSpPr>
          <p:cNvPr id="4" name="Shape 2"/>
          <p:cNvSpPr/>
          <p:nvPr/>
        </p:nvSpPr>
        <p:spPr>
          <a:xfrm>
            <a:off x="822960" y="1600200"/>
            <a:ext cx="1903781"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5" name="Shape 3"/>
          <p:cNvSpPr/>
          <p:nvPr/>
        </p:nvSpPr>
        <p:spPr>
          <a:xfrm>
            <a:off x="1024128" y="180136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6" name="Image 0" descr="preencoded.png">    </p:cNvPr>
          <p:cNvPicPr>
            <a:picLocks noChangeAspect="1"/>
          </p:cNvPicPr>
          <p:nvPr/>
        </p:nvPicPr>
        <p:blipFill>
          <a:blip r:embed="rId1"/>
          <a:stretch>
            <a:fillRect/>
          </a:stretch>
        </p:blipFill>
        <p:spPr>
          <a:xfrm>
            <a:off x="1195304" y="1972544"/>
            <a:ext cx="316017" cy="316017"/>
          </a:xfrm>
          <a:prstGeom prst="rect">
            <a:avLst/>
          </a:prstGeom>
        </p:spPr>
      </p:pic>
      <p:sp>
        <p:nvSpPr>
          <p:cNvPr id="7" name="Text 4"/>
          <p:cNvSpPr/>
          <p:nvPr/>
        </p:nvSpPr>
        <p:spPr>
          <a:xfrm>
            <a:off x="1783080" y="1764792"/>
            <a:ext cx="852221" cy="777240"/>
          </a:xfrm>
          <a:prstGeom prst="rect">
            <a:avLst/>
          </a:prstGeom>
          <a:noFill/>
          <a:ln/>
        </p:spPr>
        <p:txBody>
          <a:bodyPr wrap="square" lIns="0" tIns="0" rIns="0" bIns="0" rtlCol="0" anchor="ctr"/>
          <a:lstStyle/>
          <a:p>
            <a:pPr algn="l" indent="0" marL="0">
              <a:buNone/>
            </a:pPr>
            <a:r>
              <a:rPr lang="en-US" sz="3600" b="1" dirty="0">
                <a:solidFill>
                  <a:srgbClr val="1F78B4"/>
                </a:solidFill>
                <a:latin typeface="Cambria" pitchFamily="34" charset="0"/>
                <a:ea typeface="Cambria" pitchFamily="34" charset="-122"/>
                <a:cs typeface="Cambria" pitchFamily="34" charset="-120"/>
              </a:rPr>
              <a:t>172</a:t>
            </a:r>
            <a:endParaRPr lang="en-US" sz="3600" dirty="0"/>
          </a:p>
        </p:txBody>
      </p:sp>
      <p:sp>
        <p:nvSpPr>
          <p:cNvPr id="8" name="Text 5"/>
          <p:cNvSpPr/>
          <p:nvPr/>
        </p:nvSpPr>
        <p:spPr>
          <a:xfrm>
            <a:off x="1024128" y="2624328"/>
            <a:ext cx="1556309"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Drinking fountains</a:t>
            </a:r>
            <a:endParaRPr lang="en-US" sz="1300" dirty="0"/>
          </a:p>
        </p:txBody>
      </p:sp>
      <p:sp>
        <p:nvSpPr>
          <p:cNvPr id="9" name="Text 6"/>
          <p:cNvSpPr/>
          <p:nvPr/>
        </p:nvSpPr>
        <p:spPr>
          <a:xfrm>
            <a:off x="1024128" y="2916936"/>
            <a:ext cx="1556309"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Trinkbrunnen</a:t>
            </a:r>
            <a:endParaRPr lang="en-US" sz="1050" dirty="0"/>
          </a:p>
        </p:txBody>
      </p:sp>
      <p:sp>
        <p:nvSpPr>
          <p:cNvPr id="10" name="Shape 7"/>
          <p:cNvSpPr/>
          <p:nvPr/>
        </p:nvSpPr>
        <p:spPr>
          <a:xfrm>
            <a:off x="2982773" y="1600200"/>
            <a:ext cx="1903781"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11" name="Shape 8"/>
          <p:cNvSpPr/>
          <p:nvPr/>
        </p:nvSpPr>
        <p:spPr>
          <a:xfrm>
            <a:off x="3183941" y="180136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2" name="Image 1" descr="preencoded.png">    </p:cNvPr>
          <p:cNvPicPr>
            <a:picLocks noChangeAspect="1"/>
          </p:cNvPicPr>
          <p:nvPr/>
        </p:nvPicPr>
        <p:blipFill>
          <a:blip r:embed="rId2"/>
          <a:stretch>
            <a:fillRect/>
          </a:stretch>
        </p:blipFill>
        <p:spPr>
          <a:xfrm>
            <a:off x="3355116" y="1972544"/>
            <a:ext cx="316017" cy="316017"/>
          </a:xfrm>
          <a:prstGeom prst="rect">
            <a:avLst/>
          </a:prstGeom>
        </p:spPr>
      </p:pic>
      <p:sp>
        <p:nvSpPr>
          <p:cNvPr id="13" name="Text 9"/>
          <p:cNvSpPr/>
          <p:nvPr/>
        </p:nvSpPr>
        <p:spPr>
          <a:xfrm>
            <a:off x="3942893" y="1764792"/>
            <a:ext cx="852221" cy="777240"/>
          </a:xfrm>
          <a:prstGeom prst="rect">
            <a:avLst/>
          </a:prstGeom>
          <a:noFill/>
          <a:ln/>
        </p:spPr>
        <p:txBody>
          <a:bodyPr wrap="square" lIns="0" tIns="0" rIns="0" bIns="0" rtlCol="0" anchor="ctr"/>
          <a:lstStyle/>
          <a:p>
            <a:pPr algn="l" indent="0" marL="0">
              <a:buNone/>
            </a:pPr>
            <a:r>
              <a:rPr lang="en-US" sz="3600" b="1" dirty="0">
                <a:solidFill>
                  <a:srgbClr val="2E7D32"/>
                </a:solidFill>
                <a:latin typeface="Cambria" pitchFamily="34" charset="0"/>
                <a:ea typeface="Cambria" pitchFamily="34" charset="-122"/>
                <a:cs typeface="Cambria" pitchFamily="34" charset="-120"/>
              </a:rPr>
              <a:t>88</a:t>
            </a:r>
            <a:endParaRPr lang="en-US" sz="3600" dirty="0"/>
          </a:p>
        </p:txBody>
      </p:sp>
      <p:sp>
        <p:nvSpPr>
          <p:cNvPr id="14" name="Text 10"/>
          <p:cNvSpPr/>
          <p:nvPr/>
        </p:nvSpPr>
        <p:spPr>
          <a:xfrm>
            <a:off x="3183941" y="2624328"/>
            <a:ext cx="1556309"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Parks &amp; green spaces</a:t>
            </a:r>
            <a:endParaRPr lang="en-US" sz="1300" dirty="0"/>
          </a:p>
        </p:txBody>
      </p:sp>
      <p:sp>
        <p:nvSpPr>
          <p:cNvPr id="15" name="Text 11"/>
          <p:cNvSpPr/>
          <p:nvPr/>
        </p:nvSpPr>
        <p:spPr>
          <a:xfrm>
            <a:off x="3183941" y="2916936"/>
            <a:ext cx="1556309"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Park / Grünraum</a:t>
            </a:r>
            <a:endParaRPr lang="en-US" sz="1050" dirty="0"/>
          </a:p>
        </p:txBody>
      </p:sp>
      <p:sp>
        <p:nvSpPr>
          <p:cNvPr id="16" name="Shape 12"/>
          <p:cNvSpPr/>
          <p:nvPr/>
        </p:nvSpPr>
        <p:spPr>
          <a:xfrm>
            <a:off x="5142586" y="1600200"/>
            <a:ext cx="1903781"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17" name="Shape 13"/>
          <p:cNvSpPr/>
          <p:nvPr/>
        </p:nvSpPr>
        <p:spPr>
          <a:xfrm>
            <a:off x="5343754" y="180136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8" name="Image 2" descr="preencoded.png">    </p:cNvPr>
          <p:cNvPicPr>
            <a:picLocks noChangeAspect="1"/>
          </p:cNvPicPr>
          <p:nvPr/>
        </p:nvPicPr>
        <p:blipFill>
          <a:blip r:embed="rId3"/>
          <a:stretch>
            <a:fillRect/>
          </a:stretch>
        </p:blipFill>
        <p:spPr>
          <a:xfrm>
            <a:off x="5514929" y="1972544"/>
            <a:ext cx="316017" cy="316017"/>
          </a:xfrm>
          <a:prstGeom prst="rect">
            <a:avLst/>
          </a:prstGeom>
        </p:spPr>
      </p:pic>
      <p:sp>
        <p:nvSpPr>
          <p:cNvPr id="19" name="Text 14"/>
          <p:cNvSpPr/>
          <p:nvPr/>
        </p:nvSpPr>
        <p:spPr>
          <a:xfrm>
            <a:off x="6102706" y="1764792"/>
            <a:ext cx="852221" cy="777240"/>
          </a:xfrm>
          <a:prstGeom prst="rect">
            <a:avLst/>
          </a:prstGeom>
          <a:noFill/>
          <a:ln/>
        </p:spPr>
        <p:txBody>
          <a:bodyPr wrap="square" lIns="0" tIns="0" rIns="0" bIns="0" rtlCol="0" anchor="ctr"/>
          <a:lstStyle/>
          <a:p>
            <a:pPr algn="l" indent="0" marL="0">
              <a:buNone/>
            </a:pPr>
            <a:r>
              <a:rPr lang="en-US" sz="3600" b="1" dirty="0">
                <a:solidFill>
                  <a:srgbClr val="6A3D9A"/>
                </a:solidFill>
                <a:latin typeface="Cambria" pitchFamily="34" charset="0"/>
                <a:ea typeface="Cambria" pitchFamily="34" charset="-122"/>
                <a:cs typeface="Cambria" pitchFamily="34" charset="-120"/>
              </a:rPr>
              <a:t>10</a:t>
            </a:r>
            <a:endParaRPr lang="en-US" sz="3600" dirty="0"/>
          </a:p>
        </p:txBody>
      </p:sp>
      <p:sp>
        <p:nvSpPr>
          <p:cNvPr id="20" name="Text 15"/>
          <p:cNvSpPr/>
          <p:nvPr/>
        </p:nvSpPr>
        <p:spPr>
          <a:xfrm>
            <a:off x="5343754" y="2624328"/>
            <a:ext cx="1556309"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Churches</a:t>
            </a:r>
            <a:endParaRPr lang="en-US" sz="1300" dirty="0"/>
          </a:p>
        </p:txBody>
      </p:sp>
      <p:sp>
        <p:nvSpPr>
          <p:cNvPr id="21" name="Text 16"/>
          <p:cNvSpPr/>
          <p:nvPr/>
        </p:nvSpPr>
        <p:spPr>
          <a:xfrm>
            <a:off x="5343754" y="2916936"/>
            <a:ext cx="1556309"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Kirchen, cool interiors</a:t>
            </a:r>
            <a:endParaRPr lang="en-US" sz="1050" dirty="0"/>
          </a:p>
        </p:txBody>
      </p:sp>
      <p:sp>
        <p:nvSpPr>
          <p:cNvPr id="22" name="Shape 17"/>
          <p:cNvSpPr/>
          <p:nvPr/>
        </p:nvSpPr>
        <p:spPr>
          <a:xfrm>
            <a:off x="7302398" y="1600200"/>
            <a:ext cx="1903781"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23" name="Shape 18"/>
          <p:cNvSpPr/>
          <p:nvPr/>
        </p:nvSpPr>
        <p:spPr>
          <a:xfrm>
            <a:off x="7503566" y="180136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24" name="Image 3" descr="preencoded.png">    </p:cNvPr>
          <p:cNvPicPr>
            <a:picLocks noChangeAspect="1"/>
          </p:cNvPicPr>
          <p:nvPr/>
        </p:nvPicPr>
        <p:blipFill>
          <a:blip r:embed="rId4"/>
          <a:stretch>
            <a:fillRect/>
          </a:stretch>
        </p:blipFill>
        <p:spPr>
          <a:xfrm>
            <a:off x="7674742" y="1972544"/>
            <a:ext cx="316017" cy="316017"/>
          </a:xfrm>
          <a:prstGeom prst="rect">
            <a:avLst/>
          </a:prstGeom>
        </p:spPr>
      </p:pic>
      <p:sp>
        <p:nvSpPr>
          <p:cNvPr id="25" name="Text 19"/>
          <p:cNvSpPr/>
          <p:nvPr/>
        </p:nvSpPr>
        <p:spPr>
          <a:xfrm>
            <a:off x="8262518" y="1764792"/>
            <a:ext cx="852221" cy="777240"/>
          </a:xfrm>
          <a:prstGeom prst="rect">
            <a:avLst/>
          </a:prstGeom>
          <a:noFill/>
          <a:ln/>
        </p:spPr>
        <p:txBody>
          <a:bodyPr wrap="square" lIns="0" tIns="0" rIns="0" bIns="0" rtlCol="0" anchor="ctr"/>
          <a:lstStyle/>
          <a:p>
            <a:pPr algn="l" indent="0" marL="0">
              <a:buNone/>
            </a:pPr>
            <a:r>
              <a:rPr lang="en-US" sz="3600" b="1" dirty="0">
                <a:solidFill>
                  <a:srgbClr val="B7791F"/>
                </a:solidFill>
                <a:latin typeface="Cambria" pitchFamily="34" charset="0"/>
                <a:ea typeface="Cambria" pitchFamily="34" charset="-122"/>
                <a:cs typeface="Cambria" pitchFamily="34" charset="-120"/>
              </a:rPr>
              <a:t>8</a:t>
            </a:r>
            <a:endParaRPr lang="en-US" sz="3600" dirty="0"/>
          </a:p>
        </p:txBody>
      </p:sp>
      <p:sp>
        <p:nvSpPr>
          <p:cNvPr id="26" name="Text 20"/>
          <p:cNvSpPr/>
          <p:nvPr/>
        </p:nvSpPr>
        <p:spPr>
          <a:xfrm>
            <a:off x="7503566" y="2624328"/>
            <a:ext cx="1556309"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Public libraries</a:t>
            </a:r>
            <a:endParaRPr lang="en-US" sz="1300" dirty="0"/>
          </a:p>
        </p:txBody>
      </p:sp>
      <p:sp>
        <p:nvSpPr>
          <p:cNvPr id="27" name="Text 21"/>
          <p:cNvSpPr/>
          <p:nvPr/>
        </p:nvSpPr>
        <p:spPr>
          <a:xfrm>
            <a:off x="7503566" y="2916936"/>
            <a:ext cx="1556309"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Bibliotheken</a:t>
            </a:r>
            <a:endParaRPr lang="en-US" sz="1050" dirty="0"/>
          </a:p>
        </p:txBody>
      </p:sp>
      <p:sp>
        <p:nvSpPr>
          <p:cNvPr id="28" name="Shape 22"/>
          <p:cNvSpPr/>
          <p:nvPr/>
        </p:nvSpPr>
        <p:spPr>
          <a:xfrm>
            <a:off x="9462211" y="1600200"/>
            <a:ext cx="1903781"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29" name="Shape 23"/>
          <p:cNvSpPr/>
          <p:nvPr/>
        </p:nvSpPr>
        <p:spPr>
          <a:xfrm>
            <a:off x="9663379" y="180136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30" name="Image 4" descr="preencoded.png">    </p:cNvPr>
          <p:cNvPicPr>
            <a:picLocks noChangeAspect="1"/>
          </p:cNvPicPr>
          <p:nvPr/>
        </p:nvPicPr>
        <p:blipFill>
          <a:blip r:embed="rId5"/>
          <a:stretch>
            <a:fillRect/>
          </a:stretch>
        </p:blipFill>
        <p:spPr>
          <a:xfrm>
            <a:off x="9834555" y="1972544"/>
            <a:ext cx="316017" cy="316017"/>
          </a:xfrm>
          <a:prstGeom prst="rect">
            <a:avLst/>
          </a:prstGeom>
        </p:spPr>
      </p:pic>
      <p:sp>
        <p:nvSpPr>
          <p:cNvPr id="31" name="Text 24"/>
          <p:cNvSpPr/>
          <p:nvPr/>
        </p:nvSpPr>
        <p:spPr>
          <a:xfrm>
            <a:off x="10422331" y="1764792"/>
            <a:ext cx="852221" cy="777240"/>
          </a:xfrm>
          <a:prstGeom prst="rect">
            <a:avLst/>
          </a:prstGeom>
          <a:noFill/>
          <a:ln/>
        </p:spPr>
        <p:txBody>
          <a:bodyPr wrap="square" lIns="0" tIns="0" rIns="0" bIns="0" rtlCol="0" anchor="ctr"/>
          <a:lstStyle/>
          <a:p>
            <a:pPr algn="l" indent="0" marL="0">
              <a:buNone/>
            </a:pPr>
            <a:r>
              <a:rPr lang="en-US" sz="3600" b="1" dirty="0">
                <a:solidFill>
                  <a:srgbClr val="1C7293"/>
                </a:solidFill>
                <a:latin typeface="Cambria" pitchFamily="34" charset="0"/>
                <a:ea typeface="Cambria" pitchFamily="34" charset="-122"/>
                <a:cs typeface="Cambria" pitchFamily="34" charset="-120"/>
              </a:rPr>
              <a:t>6</a:t>
            </a:r>
            <a:endParaRPr lang="en-US" sz="3600" dirty="0"/>
          </a:p>
        </p:txBody>
      </p:sp>
      <p:sp>
        <p:nvSpPr>
          <p:cNvPr id="32" name="Text 25"/>
          <p:cNvSpPr/>
          <p:nvPr/>
        </p:nvSpPr>
        <p:spPr>
          <a:xfrm>
            <a:off x="9663379" y="2624328"/>
            <a:ext cx="1556309"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Swimming pools</a:t>
            </a:r>
            <a:endParaRPr lang="en-US" sz="1300" dirty="0"/>
          </a:p>
        </p:txBody>
      </p:sp>
      <p:sp>
        <p:nvSpPr>
          <p:cNvPr id="33" name="Text 26"/>
          <p:cNvSpPr/>
          <p:nvPr/>
        </p:nvSpPr>
        <p:spPr>
          <a:xfrm>
            <a:off x="9663379" y="2916936"/>
            <a:ext cx="1556309"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Schwimmbäder</a:t>
            </a:r>
            <a:endParaRPr lang="en-US" sz="1050" dirty="0"/>
          </a:p>
        </p:txBody>
      </p:sp>
      <p:sp>
        <p:nvSpPr>
          <p:cNvPr id="34" name="Shape 27"/>
          <p:cNvSpPr/>
          <p:nvPr/>
        </p:nvSpPr>
        <p:spPr>
          <a:xfrm>
            <a:off x="822960" y="3611880"/>
            <a:ext cx="3343656"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35" name="Shape 28"/>
          <p:cNvSpPr/>
          <p:nvPr/>
        </p:nvSpPr>
        <p:spPr>
          <a:xfrm>
            <a:off x="1024128" y="381304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36" name="Image 5" descr="preencoded.png">    </p:cNvPr>
          <p:cNvPicPr>
            <a:picLocks noChangeAspect="1"/>
          </p:cNvPicPr>
          <p:nvPr/>
        </p:nvPicPr>
        <p:blipFill>
          <a:blip r:embed="rId6"/>
          <a:stretch>
            <a:fillRect/>
          </a:stretch>
        </p:blipFill>
        <p:spPr>
          <a:xfrm>
            <a:off x="1195304" y="3984224"/>
            <a:ext cx="316017" cy="316017"/>
          </a:xfrm>
          <a:prstGeom prst="rect">
            <a:avLst/>
          </a:prstGeom>
        </p:spPr>
      </p:pic>
      <p:sp>
        <p:nvSpPr>
          <p:cNvPr id="37" name="Text 29"/>
          <p:cNvSpPr/>
          <p:nvPr/>
        </p:nvSpPr>
        <p:spPr>
          <a:xfrm>
            <a:off x="1783080" y="3776472"/>
            <a:ext cx="2292096" cy="777240"/>
          </a:xfrm>
          <a:prstGeom prst="rect">
            <a:avLst/>
          </a:prstGeom>
          <a:noFill/>
          <a:ln/>
        </p:spPr>
        <p:txBody>
          <a:bodyPr wrap="square" lIns="0" tIns="0" rIns="0" bIns="0" rtlCol="0" anchor="ctr"/>
          <a:lstStyle/>
          <a:p>
            <a:pPr algn="l" indent="0" marL="0">
              <a:buNone/>
            </a:pPr>
            <a:r>
              <a:rPr lang="en-US" sz="3600" b="1" dirty="0">
                <a:solidFill>
                  <a:srgbClr val="0EA5E9"/>
                </a:solidFill>
                <a:latin typeface="Cambria" pitchFamily="34" charset="0"/>
                <a:ea typeface="Cambria" pitchFamily="34" charset="-122"/>
                <a:cs typeface="Cambria" pitchFamily="34" charset="-120"/>
              </a:rPr>
              <a:t>3</a:t>
            </a:r>
            <a:endParaRPr lang="en-US" sz="3600" dirty="0"/>
          </a:p>
        </p:txBody>
      </p:sp>
      <p:sp>
        <p:nvSpPr>
          <p:cNvPr id="38" name="Text 30"/>
          <p:cNvSpPr/>
          <p:nvPr/>
        </p:nvSpPr>
        <p:spPr>
          <a:xfrm>
            <a:off x="1024128" y="4636008"/>
            <a:ext cx="2996184"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Water playgrounds</a:t>
            </a:r>
            <a:endParaRPr lang="en-US" sz="1300" dirty="0"/>
          </a:p>
        </p:txBody>
      </p:sp>
      <p:sp>
        <p:nvSpPr>
          <p:cNvPr id="39" name="Text 31"/>
          <p:cNvSpPr/>
          <p:nvPr/>
        </p:nvSpPr>
        <p:spPr>
          <a:xfrm>
            <a:off x="1024128" y="4928616"/>
            <a:ext cx="2996184"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Wasserspielplätze</a:t>
            </a:r>
            <a:endParaRPr lang="en-US" sz="1050" dirty="0"/>
          </a:p>
        </p:txBody>
      </p:sp>
      <p:sp>
        <p:nvSpPr>
          <p:cNvPr id="40" name="Shape 32"/>
          <p:cNvSpPr/>
          <p:nvPr/>
        </p:nvSpPr>
        <p:spPr>
          <a:xfrm>
            <a:off x="4422648" y="3611880"/>
            <a:ext cx="3343656"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41" name="Shape 33"/>
          <p:cNvSpPr/>
          <p:nvPr/>
        </p:nvSpPr>
        <p:spPr>
          <a:xfrm>
            <a:off x="4623816" y="381304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42" name="Image 6" descr="preencoded.png">    </p:cNvPr>
          <p:cNvPicPr>
            <a:picLocks noChangeAspect="1"/>
          </p:cNvPicPr>
          <p:nvPr/>
        </p:nvPicPr>
        <p:blipFill>
          <a:blip r:embed="rId7"/>
          <a:stretch>
            <a:fillRect/>
          </a:stretch>
        </p:blipFill>
        <p:spPr>
          <a:xfrm>
            <a:off x="4794992" y="3984224"/>
            <a:ext cx="316017" cy="316017"/>
          </a:xfrm>
          <a:prstGeom prst="rect">
            <a:avLst/>
          </a:prstGeom>
        </p:spPr>
      </p:pic>
      <p:sp>
        <p:nvSpPr>
          <p:cNvPr id="43" name="Text 34"/>
          <p:cNvSpPr/>
          <p:nvPr/>
        </p:nvSpPr>
        <p:spPr>
          <a:xfrm>
            <a:off x="5382768" y="3776472"/>
            <a:ext cx="2292096" cy="777240"/>
          </a:xfrm>
          <a:prstGeom prst="rect">
            <a:avLst/>
          </a:prstGeom>
          <a:noFill/>
          <a:ln/>
        </p:spPr>
        <p:txBody>
          <a:bodyPr wrap="square" lIns="0" tIns="0" rIns="0" bIns="0" rtlCol="0" anchor="ctr"/>
          <a:lstStyle/>
          <a:p>
            <a:pPr algn="l" indent="0" marL="0">
              <a:buNone/>
            </a:pPr>
            <a:r>
              <a:rPr lang="en-US" sz="3600" b="1" dirty="0">
                <a:solidFill>
                  <a:srgbClr val="06B6D4"/>
                </a:solidFill>
                <a:latin typeface="Cambria" pitchFamily="34" charset="0"/>
                <a:ea typeface="Cambria" pitchFamily="34" charset="-122"/>
                <a:cs typeface="Cambria" pitchFamily="34" charset="-120"/>
              </a:rPr>
              <a:t>2</a:t>
            </a:r>
            <a:endParaRPr lang="en-US" sz="3600" dirty="0"/>
          </a:p>
        </p:txBody>
      </p:sp>
      <p:sp>
        <p:nvSpPr>
          <p:cNvPr id="44" name="Text 35"/>
          <p:cNvSpPr/>
          <p:nvPr/>
        </p:nvSpPr>
        <p:spPr>
          <a:xfrm>
            <a:off x="4623816" y="4636008"/>
            <a:ext cx="2996184"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Spray mist cooling</a:t>
            </a:r>
            <a:endParaRPr lang="en-US" sz="1300" dirty="0"/>
          </a:p>
        </p:txBody>
      </p:sp>
      <p:sp>
        <p:nvSpPr>
          <p:cNvPr id="45" name="Text 36"/>
          <p:cNvSpPr/>
          <p:nvPr/>
        </p:nvSpPr>
        <p:spPr>
          <a:xfrm>
            <a:off x="4623816" y="4928616"/>
            <a:ext cx="2996184"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Sprühnebel-Lanzen</a:t>
            </a:r>
            <a:endParaRPr lang="en-US" sz="1050" dirty="0"/>
          </a:p>
        </p:txBody>
      </p:sp>
      <p:sp>
        <p:nvSpPr>
          <p:cNvPr id="46" name="Shape 37"/>
          <p:cNvSpPr/>
          <p:nvPr/>
        </p:nvSpPr>
        <p:spPr>
          <a:xfrm>
            <a:off x="8022336" y="3611880"/>
            <a:ext cx="3343656" cy="1783080"/>
          </a:xfrm>
          <a:prstGeom prst="roundRect">
            <a:avLst>
              <a:gd name="adj" fmla="val 5128"/>
            </a:avLst>
          </a:prstGeom>
          <a:solidFill>
            <a:srgbClr val="EAF3F7"/>
          </a:solidFill>
          <a:ln/>
          <a:effectLst>
            <a:outerShdw sx="100000" sy="100000" kx="0" ky="0" algn="bl" rotWithShape="0" blurRad="88900" dist="25400" dir="2700000">
              <a:srgbClr val="0C4A6E">
                <a:alpha val="16000"/>
              </a:srgbClr>
            </a:outerShdw>
          </a:effectLst>
        </p:spPr>
      </p:sp>
      <p:sp>
        <p:nvSpPr>
          <p:cNvPr id="47" name="Shape 38"/>
          <p:cNvSpPr/>
          <p:nvPr/>
        </p:nvSpPr>
        <p:spPr>
          <a:xfrm>
            <a:off x="8223504" y="3813048"/>
            <a:ext cx="658368" cy="658368"/>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48" name="Image 7" descr="preencoded.png">    </p:cNvPr>
          <p:cNvPicPr>
            <a:picLocks noChangeAspect="1"/>
          </p:cNvPicPr>
          <p:nvPr/>
        </p:nvPicPr>
        <p:blipFill>
          <a:blip r:embed="rId8"/>
          <a:stretch>
            <a:fillRect/>
          </a:stretch>
        </p:blipFill>
        <p:spPr>
          <a:xfrm>
            <a:off x="8394680" y="3984224"/>
            <a:ext cx="316017" cy="316017"/>
          </a:xfrm>
          <a:prstGeom prst="rect">
            <a:avLst/>
          </a:prstGeom>
        </p:spPr>
      </p:pic>
      <p:sp>
        <p:nvSpPr>
          <p:cNvPr id="49" name="Text 39"/>
          <p:cNvSpPr/>
          <p:nvPr/>
        </p:nvSpPr>
        <p:spPr>
          <a:xfrm>
            <a:off x="8982456" y="3776472"/>
            <a:ext cx="2292096" cy="777240"/>
          </a:xfrm>
          <a:prstGeom prst="rect">
            <a:avLst/>
          </a:prstGeom>
          <a:noFill/>
          <a:ln/>
        </p:spPr>
        <p:txBody>
          <a:bodyPr wrap="square" lIns="0" tIns="0" rIns="0" bIns="0" rtlCol="0" anchor="ctr"/>
          <a:lstStyle/>
          <a:p>
            <a:pPr algn="l" indent="0" marL="0">
              <a:buNone/>
            </a:pPr>
            <a:r>
              <a:rPr lang="en-US" sz="3600" b="1" dirty="0">
                <a:solidFill>
                  <a:srgbClr val="B45309"/>
                </a:solidFill>
                <a:latin typeface="Cambria" pitchFamily="34" charset="0"/>
                <a:ea typeface="Cambria" pitchFamily="34" charset="-122"/>
                <a:cs typeface="Cambria" pitchFamily="34" charset="-120"/>
              </a:rPr>
              <a:t>2</a:t>
            </a:r>
            <a:endParaRPr lang="en-US" sz="3600" dirty="0"/>
          </a:p>
        </p:txBody>
      </p:sp>
      <p:sp>
        <p:nvSpPr>
          <p:cNvPr id="50" name="Text 40"/>
          <p:cNvSpPr/>
          <p:nvPr/>
        </p:nvSpPr>
        <p:spPr>
          <a:xfrm>
            <a:off x="8223504" y="4636008"/>
            <a:ext cx="2996184" cy="347472"/>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Cultural buildings</a:t>
            </a:r>
            <a:endParaRPr lang="en-US" sz="1300" dirty="0"/>
          </a:p>
        </p:txBody>
      </p:sp>
      <p:sp>
        <p:nvSpPr>
          <p:cNvPr id="51" name="Text 41"/>
          <p:cNvSpPr/>
          <p:nvPr/>
        </p:nvSpPr>
        <p:spPr>
          <a:xfrm>
            <a:off x="8223504" y="4928616"/>
            <a:ext cx="2996184"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Kunsthaus + Graz Museum</a:t>
            </a:r>
            <a:endParaRPr lang="en-US" sz="1050" dirty="0"/>
          </a:p>
        </p:txBody>
      </p:sp>
      <p:sp>
        <p:nvSpPr>
          <p:cNvPr id="52" name="Text 42"/>
          <p:cNvSpPr/>
          <p:nvPr/>
        </p:nvSpPr>
        <p:spPr>
          <a:xfrm>
            <a:off x="822960" y="5715000"/>
            <a:ext cx="10515600" cy="457200"/>
          </a:xfrm>
          <a:prstGeom prst="rect">
            <a:avLst/>
          </a:prstGeom>
          <a:noFill/>
          <a:ln/>
        </p:spPr>
        <p:txBody>
          <a:bodyPr wrap="square" rtlCol="0" anchor="ctr"/>
          <a:lstStyle/>
          <a:p>
            <a:pPr algn="ctr" indent="0" marL="0">
              <a:buNone/>
            </a:pPr>
            <a:r>
              <a:rPr lang="en-US" sz="1450" dirty="0">
                <a:solidFill>
                  <a:srgbClr val="1E293B"/>
                </a:solidFill>
                <a:latin typeface="Calibri" pitchFamily="34" charset="0"/>
                <a:ea typeface="Calibri" pitchFamily="34" charset="-122"/>
                <a:cs typeface="Calibri" pitchFamily="34" charset="-120"/>
              </a:rPr>
              <a:t>Of these, </a:t>
            </a:r>
            <a:pPr algn="ctr" indent="0" marL="0">
              <a:buNone/>
            </a:pPr>
            <a:r>
              <a:rPr lang="en-US" sz="1450" b="1" dirty="0">
                <a:solidFill>
                  <a:srgbClr val="E31A1C"/>
                </a:solidFill>
                <a:latin typeface="Calibri" pitchFamily="34" charset="0"/>
                <a:ea typeface="Calibri" pitchFamily="34" charset="-122"/>
                <a:cs typeface="Calibri" pitchFamily="34" charset="-120"/>
              </a:rPr>
              <a:t>13 are flagged as official “Coole Räume“</a:t>
            </a:r>
            <a:pPr algn="ctr" indent="0" marL="0">
              <a:buNone/>
            </a:pPr>
            <a:r>
              <a:rPr lang="en-US" sz="1450" dirty="0">
                <a:solidFill>
                  <a:srgbClr val="1E293B"/>
                </a:solidFill>
                <a:latin typeface="Calibri" pitchFamily="34" charset="0"/>
                <a:ea typeface="Calibri" pitchFamily="34" charset="-122"/>
                <a:cs typeface="Calibri" pitchFamily="34" charset="-120"/>
              </a:rPr>
              <a:t> (10 churches + 3 libraries + Kunsthaus + Graz Museum) via the coole_raeume attribute.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How it was built: a conflation pipeline</a:t>
            </a:r>
            <a:endParaRPr lang="en-US" sz="32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Conceptualization and collection. Four-plus open sources normalized into one consistent schema</a:t>
            </a:r>
            <a:endParaRPr lang="en-US" sz="1400" dirty="0"/>
          </a:p>
        </p:txBody>
      </p:sp>
      <p:sp>
        <p:nvSpPr>
          <p:cNvPr id="4" name="Shape 2"/>
          <p:cNvSpPr/>
          <p:nvPr/>
        </p:nvSpPr>
        <p:spPr>
          <a:xfrm>
            <a:off x="402336" y="1600200"/>
            <a:ext cx="2331720" cy="1417320"/>
          </a:xfrm>
          <a:prstGeom prst="roundRect">
            <a:avLst>
              <a:gd name="adj" fmla="val 6452"/>
            </a:avLst>
          </a:prstGeom>
          <a:solidFill>
            <a:srgbClr val="EAF3F7"/>
          </a:solidFill>
          <a:ln/>
          <a:effectLst>
            <a:outerShdw sx="100000" sy="100000" kx="0" ky="0" algn="bl" rotWithShape="0" blurRad="88900" dist="25400" dir="2700000">
              <a:srgbClr val="0C4A6E">
                <a:alpha val="16000"/>
              </a:srgbClr>
            </a:outerShdw>
          </a:effectLst>
        </p:spPr>
      </p:sp>
      <p:pic>
        <p:nvPicPr>
          <p:cNvPr id="5" name="Image 0" descr="preencoded.png">    </p:cNvPr>
          <p:cNvPicPr>
            <a:picLocks noChangeAspect="1"/>
          </p:cNvPicPr>
          <p:nvPr/>
        </p:nvPicPr>
        <p:blipFill>
          <a:blip r:embed="rId1"/>
          <a:stretch>
            <a:fillRect/>
          </a:stretch>
        </p:blipFill>
        <p:spPr>
          <a:xfrm>
            <a:off x="603504" y="1801368"/>
            <a:ext cx="457200" cy="457200"/>
          </a:xfrm>
          <a:prstGeom prst="rect">
            <a:avLst/>
          </a:prstGeom>
        </p:spPr>
      </p:pic>
      <p:sp>
        <p:nvSpPr>
          <p:cNvPr id="6" name="Text 3"/>
          <p:cNvSpPr/>
          <p:nvPr/>
        </p:nvSpPr>
        <p:spPr>
          <a:xfrm>
            <a:off x="1133856" y="1783080"/>
            <a:ext cx="1463040" cy="502920"/>
          </a:xfrm>
          <a:prstGeom prst="rect">
            <a:avLst/>
          </a:prstGeom>
          <a:noFill/>
          <a:ln/>
        </p:spPr>
        <p:txBody>
          <a:bodyPr wrap="square" lIns="0" tIns="0" rIns="0" bIns="0" rtlCol="0" anchor="ctr"/>
          <a:lstStyle/>
          <a:p>
            <a:pPr indent="0" marL="0">
              <a:buNone/>
            </a:pPr>
            <a:r>
              <a:rPr lang="en-US" sz="1800" b="1" dirty="0">
                <a:solidFill>
                  <a:srgbClr val="0C4A6E"/>
                </a:solidFill>
                <a:latin typeface="Cambria" pitchFamily="34" charset="0"/>
                <a:ea typeface="Cambria" pitchFamily="34" charset="-122"/>
                <a:cs typeface="Cambria" pitchFamily="34" charset="-120"/>
              </a:rPr>
              <a:t>Collect</a:t>
            </a:r>
            <a:endParaRPr lang="en-US" sz="1800" dirty="0"/>
          </a:p>
        </p:txBody>
      </p:sp>
      <p:sp>
        <p:nvSpPr>
          <p:cNvPr id="7" name="Text 4"/>
          <p:cNvSpPr/>
          <p:nvPr/>
        </p:nvSpPr>
        <p:spPr>
          <a:xfrm>
            <a:off x="621792" y="2350008"/>
            <a:ext cx="192024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4+ open sources</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via REST &amp; Overpass</a:t>
            </a:r>
            <a:endParaRPr lang="en-US" sz="1200" dirty="0"/>
          </a:p>
        </p:txBody>
      </p:sp>
      <p:pic>
        <p:nvPicPr>
          <p:cNvPr id="8" name="Image 1" descr="preencoded.png">    </p:cNvPr>
          <p:cNvPicPr>
            <a:picLocks noChangeAspect="1"/>
          </p:cNvPicPr>
          <p:nvPr/>
        </p:nvPicPr>
        <p:blipFill>
          <a:blip r:embed="rId2"/>
          <a:stretch>
            <a:fillRect/>
          </a:stretch>
        </p:blipFill>
        <p:spPr>
          <a:xfrm>
            <a:off x="2894076" y="2125980"/>
            <a:ext cx="365760" cy="365760"/>
          </a:xfrm>
          <a:prstGeom prst="rect">
            <a:avLst/>
          </a:prstGeom>
        </p:spPr>
      </p:pic>
      <p:sp>
        <p:nvSpPr>
          <p:cNvPr id="9" name="Shape 5"/>
          <p:cNvSpPr/>
          <p:nvPr/>
        </p:nvSpPr>
        <p:spPr>
          <a:xfrm>
            <a:off x="3419856" y="1600200"/>
            <a:ext cx="2331720" cy="1417320"/>
          </a:xfrm>
          <a:prstGeom prst="roundRect">
            <a:avLst>
              <a:gd name="adj" fmla="val 6452"/>
            </a:avLst>
          </a:prstGeom>
          <a:solidFill>
            <a:srgbClr val="EAF3F7"/>
          </a:solidFill>
          <a:ln/>
          <a:effectLst>
            <a:outerShdw sx="100000" sy="100000" kx="0" ky="0" algn="bl" rotWithShape="0" blurRad="88900" dist="25400" dir="2700000">
              <a:srgbClr val="0C4A6E">
                <a:alpha val="16000"/>
              </a:srgbClr>
            </a:outerShdw>
          </a:effectLst>
        </p:spPr>
      </p:sp>
      <p:pic>
        <p:nvPicPr>
          <p:cNvPr id="10" name="Image 2" descr="preencoded.png">    </p:cNvPr>
          <p:cNvPicPr>
            <a:picLocks noChangeAspect="1"/>
          </p:cNvPicPr>
          <p:nvPr/>
        </p:nvPicPr>
        <p:blipFill>
          <a:blip r:embed="rId3"/>
          <a:stretch>
            <a:fillRect/>
          </a:stretch>
        </p:blipFill>
        <p:spPr>
          <a:xfrm>
            <a:off x="3621024" y="1801368"/>
            <a:ext cx="457200" cy="457200"/>
          </a:xfrm>
          <a:prstGeom prst="rect">
            <a:avLst/>
          </a:prstGeom>
        </p:spPr>
      </p:pic>
      <p:sp>
        <p:nvSpPr>
          <p:cNvPr id="11" name="Text 6"/>
          <p:cNvSpPr/>
          <p:nvPr/>
        </p:nvSpPr>
        <p:spPr>
          <a:xfrm>
            <a:off x="4151376" y="1783080"/>
            <a:ext cx="1463040" cy="502920"/>
          </a:xfrm>
          <a:prstGeom prst="rect">
            <a:avLst/>
          </a:prstGeom>
          <a:noFill/>
          <a:ln/>
        </p:spPr>
        <p:txBody>
          <a:bodyPr wrap="square" lIns="0" tIns="0" rIns="0" bIns="0" rtlCol="0" anchor="ctr"/>
          <a:lstStyle/>
          <a:p>
            <a:pPr indent="0" marL="0">
              <a:buNone/>
            </a:pPr>
            <a:r>
              <a:rPr lang="en-US" sz="1800" b="1" dirty="0">
                <a:solidFill>
                  <a:srgbClr val="0C4A6E"/>
                </a:solidFill>
                <a:latin typeface="Cambria" pitchFamily="34" charset="0"/>
                <a:ea typeface="Cambria" pitchFamily="34" charset="-122"/>
                <a:cs typeface="Cambria" pitchFamily="34" charset="-120"/>
              </a:rPr>
              <a:t>Normalize</a:t>
            </a:r>
            <a:endParaRPr lang="en-US" sz="1800" dirty="0"/>
          </a:p>
        </p:txBody>
      </p:sp>
      <p:sp>
        <p:nvSpPr>
          <p:cNvPr id="12" name="Text 7"/>
          <p:cNvSpPr/>
          <p:nvPr/>
        </p:nvSpPr>
        <p:spPr>
          <a:xfrm>
            <a:off x="3639312" y="2350008"/>
            <a:ext cx="192024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map every source onto</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one common schema</a:t>
            </a:r>
            <a:endParaRPr lang="en-US" sz="1200" dirty="0"/>
          </a:p>
        </p:txBody>
      </p:sp>
      <p:pic>
        <p:nvPicPr>
          <p:cNvPr id="13" name="Image 3" descr="preencoded.png">    </p:cNvPr>
          <p:cNvPicPr>
            <a:picLocks noChangeAspect="1"/>
          </p:cNvPicPr>
          <p:nvPr/>
        </p:nvPicPr>
        <p:blipFill>
          <a:blip r:embed="rId4"/>
          <a:stretch>
            <a:fillRect/>
          </a:stretch>
        </p:blipFill>
        <p:spPr>
          <a:xfrm>
            <a:off x="5911596" y="2125980"/>
            <a:ext cx="365760" cy="365760"/>
          </a:xfrm>
          <a:prstGeom prst="rect">
            <a:avLst/>
          </a:prstGeom>
        </p:spPr>
      </p:pic>
      <p:sp>
        <p:nvSpPr>
          <p:cNvPr id="14" name="Shape 8"/>
          <p:cNvSpPr/>
          <p:nvPr/>
        </p:nvSpPr>
        <p:spPr>
          <a:xfrm>
            <a:off x="6437376" y="1600200"/>
            <a:ext cx="2331720" cy="1417320"/>
          </a:xfrm>
          <a:prstGeom prst="roundRect">
            <a:avLst>
              <a:gd name="adj" fmla="val 6452"/>
            </a:avLst>
          </a:prstGeom>
          <a:solidFill>
            <a:srgbClr val="0C4A6E"/>
          </a:solidFill>
          <a:ln/>
          <a:effectLst>
            <a:outerShdw sx="100000" sy="100000" kx="0" ky="0" algn="bl" rotWithShape="0" blurRad="88900" dist="25400" dir="2700000">
              <a:srgbClr val="0C4A6E">
                <a:alpha val="16000"/>
              </a:srgbClr>
            </a:outerShdw>
          </a:effectLst>
        </p:spPr>
      </p:sp>
      <p:pic>
        <p:nvPicPr>
          <p:cNvPr id="15" name="Image 4" descr="preencoded.png">    </p:cNvPr>
          <p:cNvPicPr>
            <a:picLocks noChangeAspect="1"/>
          </p:cNvPicPr>
          <p:nvPr/>
        </p:nvPicPr>
        <p:blipFill>
          <a:blip r:embed="rId5"/>
          <a:stretch>
            <a:fillRect/>
          </a:stretch>
        </p:blipFill>
        <p:spPr>
          <a:xfrm>
            <a:off x="6638544" y="1801368"/>
            <a:ext cx="457200" cy="457200"/>
          </a:xfrm>
          <a:prstGeom prst="rect">
            <a:avLst/>
          </a:prstGeom>
        </p:spPr>
      </p:pic>
      <p:sp>
        <p:nvSpPr>
          <p:cNvPr id="16" name="Text 9"/>
          <p:cNvSpPr/>
          <p:nvPr/>
        </p:nvSpPr>
        <p:spPr>
          <a:xfrm>
            <a:off x="7168896" y="1783080"/>
            <a:ext cx="146304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Derive flag</a:t>
            </a:r>
            <a:endParaRPr lang="en-US" sz="1800" dirty="0"/>
          </a:p>
        </p:txBody>
      </p:sp>
      <p:sp>
        <p:nvSpPr>
          <p:cNvPr id="17" name="Text 10"/>
          <p:cNvSpPr/>
          <p:nvPr/>
        </p:nvSpPr>
        <p:spPr>
          <a:xfrm>
            <a:off x="6656832" y="2350008"/>
            <a:ext cx="1920240" cy="5943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cross-reference the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official Coole Räume list</a:t>
            </a:r>
            <a:endParaRPr lang="en-US" sz="1200" dirty="0"/>
          </a:p>
        </p:txBody>
      </p:sp>
      <p:pic>
        <p:nvPicPr>
          <p:cNvPr id="18" name="Image 5" descr="preencoded.png">    </p:cNvPr>
          <p:cNvPicPr>
            <a:picLocks noChangeAspect="1"/>
          </p:cNvPicPr>
          <p:nvPr/>
        </p:nvPicPr>
        <p:blipFill>
          <a:blip r:embed="rId6"/>
          <a:stretch>
            <a:fillRect/>
          </a:stretch>
        </p:blipFill>
        <p:spPr>
          <a:xfrm>
            <a:off x="8929116" y="2125980"/>
            <a:ext cx="365760" cy="365760"/>
          </a:xfrm>
          <a:prstGeom prst="rect">
            <a:avLst/>
          </a:prstGeom>
        </p:spPr>
      </p:pic>
      <p:sp>
        <p:nvSpPr>
          <p:cNvPr id="19" name="Shape 11"/>
          <p:cNvSpPr/>
          <p:nvPr/>
        </p:nvSpPr>
        <p:spPr>
          <a:xfrm>
            <a:off x="9454896" y="1600200"/>
            <a:ext cx="2331720" cy="1417320"/>
          </a:xfrm>
          <a:prstGeom prst="roundRect">
            <a:avLst>
              <a:gd name="adj" fmla="val 6452"/>
            </a:avLst>
          </a:prstGeom>
          <a:solidFill>
            <a:srgbClr val="EAF3F7"/>
          </a:solidFill>
          <a:ln/>
          <a:effectLst>
            <a:outerShdw sx="100000" sy="100000" kx="0" ky="0" algn="bl" rotWithShape="0" blurRad="88900" dist="25400" dir="2700000">
              <a:srgbClr val="0C4A6E">
                <a:alpha val="16000"/>
              </a:srgbClr>
            </a:outerShdw>
          </a:effectLst>
        </p:spPr>
      </p:sp>
      <p:pic>
        <p:nvPicPr>
          <p:cNvPr id="20" name="Image 6" descr="preencoded.png">    </p:cNvPr>
          <p:cNvPicPr>
            <a:picLocks noChangeAspect="1"/>
          </p:cNvPicPr>
          <p:nvPr/>
        </p:nvPicPr>
        <p:blipFill>
          <a:blip r:embed="rId7"/>
          <a:stretch>
            <a:fillRect/>
          </a:stretch>
        </p:blipFill>
        <p:spPr>
          <a:xfrm>
            <a:off x="9656064" y="1801368"/>
            <a:ext cx="457200" cy="457200"/>
          </a:xfrm>
          <a:prstGeom prst="rect">
            <a:avLst/>
          </a:prstGeom>
        </p:spPr>
      </p:pic>
      <p:sp>
        <p:nvSpPr>
          <p:cNvPr id="21" name="Text 12"/>
          <p:cNvSpPr/>
          <p:nvPr/>
        </p:nvSpPr>
        <p:spPr>
          <a:xfrm>
            <a:off x="10186416" y="1783080"/>
            <a:ext cx="1463040" cy="502920"/>
          </a:xfrm>
          <a:prstGeom prst="rect">
            <a:avLst/>
          </a:prstGeom>
          <a:noFill/>
          <a:ln/>
        </p:spPr>
        <p:txBody>
          <a:bodyPr wrap="square" lIns="0" tIns="0" rIns="0" bIns="0" rtlCol="0" anchor="ctr"/>
          <a:lstStyle/>
          <a:p>
            <a:pPr indent="0" marL="0">
              <a:buNone/>
            </a:pPr>
            <a:r>
              <a:rPr lang="en-US" sz="1800" b="1" dirty="0">
                <a:solidFill>
                  <a:srgbClr val="0C4A6E"/>
                </a:solidFill>
                <a:latin typeface="Cambria" pitchFamily="34" charset="0"/>
                <a:ea typeface="Cambria" pitchFamily="34" charset="-122"/>
                <a:cs typeface="Cambria" pitchFamily="34" charset="-120"/>
              </a:rPr>
              <a:t>Publish</a:t>
            </a:r>
            <a:endParaRPr lang="en-US" sz="1800" dirty="0"/>
          </a:p>
        </p:txBody>
      </p:sp>
      <p:sp>
        <p:nvSpPr>
          <p:cNvPr id="22" name="Text 13"/>
          <p:cNvSpPr/>
          <p:nvPr/>
        </p:nvSpPr>
        <p:spPr>
          <a:xfrm>
            <a:off x="9674352" y="2350008"/>
            <a:ext cx="192024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CSV + GeoJSON</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on GitHub</a:t>
            </a:r>
            <a:endParaRPr lang="en-US" sz="1200" dirty="0"/>
          </a:p>
        </p:txBody>
      </p:sp>
      <p:sp>
        <p:nvSpPr>
          <p:cNvPr id="23" name="Text 14"/>
          <p:cNvSpPr/>
          <p:nvPr/>
        </p:nvSpPr>
        <p:spPr>
          <a:xfrm>
            <a:off x="822960" y="3429000"/>
            <a:ext cx="5486400" cy="365760"/>
          </a:xfrm>
          <a:prstGeom prst="rect">
            <a:avLst/>
          </a:prstGeom>
          <a:noFill/>
          <a:ln/>
        </p:spPr>
        <p:txBody>
          <a:bodyPr wrap="square" lIns="0" tIns="0" rIns="0" bIns="0" rtlCol="0" anchor="ctr"/>
          <a:lstStyle/>
          <a:p>
            <a:pPr indent="0" marL="0">
              <a:buNone/>
            </a:pPr>
            <a:r>
              <a:rPr lang="en-US" sz="1800" b="1" dirty="0">
                <a:solidFill>
                  <a:srgbClr val="0C4A6E"/>
                </a:solidFill>
                <a:latin typeface="Cambria" pitchFamily="34" charset="0"/>
                <a:ea typeface="Cambria" pitchFamily="34" charset="-122"/>
                <a:cs typeface="Cambria" pitchFamily="34" charset="-120"/>
              </a:rPr>
              <a:t>Sources</a:t>
            </a:r>
            <a:endParaRPr lang="en-US" sz="1800" dirty="0"/>
          </a:p>
        </p:txBody>
      </p:sp>
      <p:sp>
        <p:nvSpPr>
          <p:cNvPr id="24" name="Text 15"/>
          <p:cNvSpPr/>
          <p:nvPr/>
        </p:nvSpPr>
        <p:spPr>
          <a:xfrm>
            <a:off x="822960" y="3840480"/>
            <a:ext cx="10515600" cy="1828800"/>
          </a:xfrm>
          <a:prstGeom prst="rect">
            <a:avLst/>
          </a:prstGeom>
          <a:noFill/>
          <a:ln/>
        </p:spPr>
        <p:txBody>
          <a:bodyPr wrap="square" rtlCol="0" anchor="t"/>
          <a:lstStyle/>
          <a:p>
            <a:pPr indent="0" marL="0">
              <a:lnSpc>
                <a:spcPct val="115000"/>
              </a:lnSpc>
              <a:buNone/>
            </a:pPr>
            <a:r>
              <a:rPr lang="en-US" sz="1450" b="1" dirty="0">
                <a:solidFill>
                  <a:srgbClr val="1E293B"/>
                </a:solidFill>
                <a:latin typeface="Calibri" pitchFamily="34" charset="0"/>
                <a:ea typeface="Calibri" pitchFamily="34" charset="-122"/>
                <a:cs typeface="Calibri" pitchFamily="34" charset="-120"/>
              </a:rPr>
              <a:t>Stadt Graz OGD (ArcGIS REST): </a:t>
            </a:r>
            <a:pPr indent="0" marL="0">
              <a:lnSpc>
                <a:spcPct val="115000"/>
              </a:lnSpc>
              <a:buNone/>
            </a:pPr>
            <a:r>
              <a:rPr lang="en-US" sz="1450" dirty="0">
                <a:solidFill>
                  <a:srgbClr val="1E293B"/>
                </a:solidFill>
                <a:latin typeface="Calibri" pitchFamily="34" charset="0"/>
                <a:ea typeface="Calibri" pitchFamily="34" charset="-122"/>
                <a:cs typeface="Calibri" pitchFamily="34" charset="-120"/>
              </a:rPr>
              <a:t>fountains, libraries, churches.  </a:t>
            </a:r>
            <a:pPr indent="0" marL="0">
              <a:lnSpc>
                <a:spcPct val="115000"/>
              </a:lnSpc>
              <a:buNone/>
            </a:pPr>
            <a:r>
              <a:rPr lang="en-US" sz="1450" i="1" dirty="0">
                <a:solidFill>
                  <a:srgbClr val="1C7293"/>
                </a:solidFill>
                <a:latin typeface="Calibri" pitchFamily="34" charset="0"/>
                <a:ea typeface="Calibri" pitchFamily="34" charset="-122"/>
                <a:cs typeface="Calibri" pitchFamily="34" charset="-120"/>
              </a:rPr>
              <a:t>CC BY 4.0</a:t>
            </a:r>
            <a:endParaRPr lang="en-US" sz="1450" dirty="0"/>
          </a:p>
          <a:p>
            <a:pPr indent="0" marL="0">
              <a:lnSpc>
                <a:spcPct val="115000"/>
              </a:lnSpc>
              <a:buNone/>
            </a:pPr>
            <a:r>
              <a:rPr lang="en-US" sz="1450" b="1" dirty="0">
                <a:solidFill>
                  <a:srgbClr val="1E293B"/>
                </a:solidFill>
                <a:latin typeface="Calibri" pitchFamily="34" charset="0"/>
                <a:ea typeface="Calibri" pitchFamily="34" charset="-122"/>
                <a:cs typeface="Calibri" pitchFamily="34" charset="-120"/>
              </a:rPr>
              <a:t>OpenStreetMap (Overpass API): </a:t>
            </a:r>
            <a:pPr indent="0" marL="0">
              <a:lnSpc>
                <a:spcPct val="115000"/>
              </a:lnSpc>
              <a:buNone/>
            </a:pPr>
            <a:r>
              <a:rPr lang="en-US" sz="1450" dirty="0">
                <a:solidFill>
                  <a:srgbClr val="1E293B"/>
                </a:solidFill>
                <a:latin typeface="Calibri" pitchFamily="34" charset="0"/>
                <a:ea typeface="Calibri" pitchFamily="34" charset="-122"/>
                <a:cs typeface="Calibri" pitchFamily="34" charset="-120"/>
              </a:rPr>
              <a:t>parks and green spaces, filtered by leisure / landuse tags.  </a:t>
            </a:r>
            <a:pPr indent="0" marL="0">
              <a:lnSpc>
                <a:spcPct val="115000"/>
              </a:lnSpc>
              <a:buNone/>
            </a:pPr>
            <a:r>
              <a:rPr lang="en-US" sz="1450" i="1" dirty="0">
                <a:solidFill>
                  <a:srgbClr val="2E7D32"/>
                </a:solidFill>
                <a:latin typeface="Calibri" pitchFamily="34" charset="0"/>
                <a:ea typeface="Calibri" pitchFamily="34" charset="-122"/>
                <a:cs typeface="Calibri" pitchFamily="34" charset="-120"/>
              </a:rPr>
              <a:t>ODbL 1.0</a:t>
            </a:r>
            <a:endParaRPr lang="en-US" sz="1450" dirty="0"/>
          </a:p>
          <a:p>
            <a:pPr indent="0" marL="0">
              <a:lnSpc>
                <a:spcPct val="115000"/>
              </a:lnSpc>
              <a:buNone/>
            </a:pPr>
            <a:r>
              <a:rPr lang="en-US" sz="1450" b="1" dirty="0">
                <a:solidFill>
                  <a:srgbClr val="1E293B"/>
                </a:solidFill>
                <a:latin typeface="Calibri" pitchFamily="34" charset="0"/>
                <a:ea typeface="Calibri" pitchFamily="34" charset="-122"/>
                <a:cs typeface="Calibri" pitchFamily="34" charset="-120"/>
              </a:rPr>
              <a:t>Grazer Freizeitbetriebe / Holding Graz / Mamilade: </a:t>
            </a:r>
            <a:pPr indent="0" marL="0">
              <a:lnSpc>
                <a:spcPct val="115000"/>
              </a:lnSpc>
              <a:buNone/>
            </a:pPr>
            <a:r>
              <a:rPr lang="en-US" sz="1450" dirty="0">
                <a:solidFill>
                  <a:srgbClr val="1E293B"/>
                </a:solidFill>
                <a:latin typeface="Calibri" pitchFamily="34" charset="0"/>
                <a:ea typeface="Calibri" pitchFamily="34" charset="-122"/>
                <a:cs typeface="Calibri" pitchFamily="34" charset="-120"/>
              </a:rPr>
              <a:t>pools, water playgrounds, spray-mist installations.  </a:t>
            </a:r>
            <a:pPr indent="0" marL="0">
              <a:lnSpc>
                <a:spcPct val="115000"/>
              </a:lnSpc>
              <a:buNone/>
            </a:pPr>
            <a:r>
              <a:rPr lang="en-US" sz="1450" i="1" dirty="0">
                <a:solidFill>
                  <a:srgbClr val="1C7293"/>
                </a:solidFill>
                <a:latin typeface="Calibri" pitchFamily="34" charset="0"/>
                <a:ea typeface="Calibri" pitchFamily="34" charset="-122"/>
                <a:cs typeface="Calibri" pitchFamily="34" charset="-120"/>
              </a:rPr>
              <a:t>CC BY 4.0</a:t>
            </a:r>
            <a:endParaRPr lang="en-US" sz="1450" dirty="0"/>
          </a:p>
          <a:p>
            <a:pPr indent="0" marL="0">
              <a:lnSpc>
                <a:spcPct val="115000"/>
              </a:lnSpc>
              <a:buNone/>
            </a:pPr>
            <a:r>
              <a:rPr lang="en-US" sz="1450" b="1" dirty="0">
                <a:solidFill>
                  <a:srgbClr val="1E293B"/>
                </a:solidFill>
                <a:latin typeface="Calibri" pitchFamily="34" charset="0"/>
                <a:ea typeface="Calibri" pitchFamily="34" charset="-122"/>
                <a:cs typeface="Calibri" pitchFamily="34" charset="-120"/>
              </a:rPr>
              <a:t>Hitzeaktionsplan der Stadt Graz (Version 1.0, June 2025): </a:t>
            </a:r>
            <a:pPr indent="0" marL="0">
              <a:lnSpc>
                <a:spcPct val="115000"/>
              </a:lnSpc>
              <a:buNone/>
            </a:pPr>
            <a:r>
              <a:rPr lang="en-US" sz="1450" dirty="0">
                <a:solidFill>
                  <a:srgbClr val="1E293B"/>
                </a:solidFill>
                <a:latin typeface="Calibri" pitchFamily="34" charset="0"/>
                <a:ea typeface="Calibri" pitchFamily="34" charset="-122"/>
                <a:cs typeface="Calibri" pitchFamily="34" charset="-120"/>
              </a:rPr>
              <a:t>Kunsthaus Graz (foyer), Graz Museum (Stadtoase).  </a:t>
            </a:r>
            <a:pPr indent="0" marL="0">
              <a:lnSpc>
                <a:spcPct val="115000"/>
              </a:lnSpc>
              <a:buNone/>
            </a:pPr>
            <a:r>
              <a:rPr lang="en-US" sz="1450" i="1" dirty="0">
                <a:solidFill>
                  <a:srgbClr val="1C7293"/>
                </a:solidFill>
                <a:latin typeface="Calibri" pitchFamily="34" charset="0"/>
                <a:ea typeface="Calibri" pitchFamily="34" charset="-122"/>
                <a:cs typeface="Calibri" pitchFamily="34" charset="-120"/>
              </a:rPr>
              <a:t>CC BY 4.0</a:t>
            </a:r>
            <a:endParaRPr lang="en-US" sz="1450" dirty="0"/>
          </a:p>
        </p:txBody>
      </p:sp>
      <p:sp>
        <p:nvSpPr>
          <p:cNvPr id="25" name="Text 16"/>
          <p:cNvSpPr/>
          <p:nvPr/>
        </p:nvSpPr>
        <p:spPr>
          <a:xfrm>
            <a:off x="822960" y="5806440"/>
            <a:ext cx="105156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Retrieved 2026-06-12. Built in Python (merge_graz.py), fully re-runnable.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Schema and the derived “Coole Räume” flag</a:t>
            </a:r>
            <a:endParaRPr lang="en-US" sz="3200" dirty="0"/>
          </a:p>
        </p:txBody>
      </p:sp>
      <p:sp>
        <p:nvSpPr>
          <p:cNvPr id="3" name="Shape 1"/>
          <p:cNvSpPr/>
          <p:nvPr/>
        </p:nvSpPr>
        <p:spPr>
          <a:xfrm>
            <a:off x="822960" y="1508760"/>
            <a:ext cx="5669280" cy="603504"/>
          </a:xfrm>
          <a:prstGeom prst="roundRect">
            <a:avLst>
              <a:gd name="adj" fmla="val 9091"/>
            </a:avLst>
          </a:prstGeom>
          <a:solidFill>
            <a:srgbClr val="F4F9FB"/>
          </a:solidFill>
          <a:ln/>
        </p:spPr>
      </p:sp>
      <p:sp>
        <p:nvSpPr>
          <p:cNvPr id="4" name="Text 2"/>
          <p:cNvSpPr/>
          <p:nvPr/>
        </p:nvSpPr>
        <p:spPr>
          <a:xfrm>
            <a:off x="1005840" y="1508760"/>
            <a:ext cx="1920240" cy="603504"/>
          </a:xfrm>
          <a:prstGeom prst="rect">
            <a:avLst/>
          </a:prstGeom>
          <a:noFill/>
          <a:ln/>
        </p:spPr>
        <p:txBody>
          <a:bodyPr wrap="square" lIns="0" tIns="0" rIns="0" bIns="0" rtlCol="0" anchor="ctr"/>
          <a:lstStyle/>
          <a:p>
            <a:pPr indent="0" marL="0">
              <a:buNone/>
            </a:pPr>
            <a:r>
              <a:rPr lang="en-US" sz="1400" b="1" dirty="0">
                <a:solidFill>
                  <a:srgbClr val="0C4A6E"/>
                </a:solidFill>
                <a:latin typeface="Calibri" pitchFamily="34" charset="0"/>
                <a:ea typeface="Calibri" pitchFamily="34" charset="-122"/>
                <a:cs typeface="Calibri" pitchFamily="34" charset="-120"/>
              </a:rPr>
              <a:t>Identity</a:t>
            </a:r>
            <a:endParaRPr lang="en-US" sz="1400" dirty="0"/>
          </a:p>
        </p:txBody>
      </p:sp>
      <p:sp>
        <p:nvSpPr>
          <p:cNvPr id="5" name="Text 3"/>
          <p:cNvSpPr/>
          <p:nvPr/>
        </p:nvSpPr>
        <p:spPr>
          <a:xfrm>
            <a:off x="2971800" y="1508760"/>
            <a:ext cx="3383280" cy="603504"/>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id, name</a:t>
            </a:r>
            <a:endParaRPr lang="en-US" sz="1300" dirty="0"/>
          </a:p>
        </p:txBody>
      </p:sp>
      <p:sp>
        <p:nvSpPr>
          <p:cNvPr id="6" name="Shape 4"/>
          <p:cNvSpPr/>
          <p:nvPr/>
        </p:nvSpPr>
        <p:spPr>
          <a:xfrm>
            <a:off x="822960" y="2221992"/>
            <a:ext cx="5669280" cy="603504"/>
          </a:xfrm>
          <a:prstGeom prst="roundRect">
            <a:avLst>
              <a:gd name="adj" fmla="val 9091"/>
            </a:avLst>
          </a:prstGeom>
          <a:solidFill>
            <a:srgbClr val="F4F9FB"/>
          </a:solidFill>
          <a:ln/>
        </p:spPr>
      </p:sp>
      <p:sp>
        <p:nvSpPr>
          <p:cNvPr id="7" name="Text 5"/>
          <p:cNvSpPr/>
          <p:nvPr/>
        </p:nvSpPr>
        <p:spPr>
          <a:xfrm>
            <a:off x="1005840" y="2221992"/>
            <a:ext cx="1920240" cy="603504"/>
          </a:xfrm>
          <a:prstGeom prst="rect">
            <a:avLst/>
          </a:prstGeom>
          <a:noFill/>
          <a:ln/>
        </p:spPr>
        <p:txBody>
          <a:bodyPr wrap="square" lIns="0" tIns="0" rIns="0" bIns="0" rtlCol="0" anchor="ctr"/>
          <a:lstStyle/>
          <a:p>
            <a:pPr indent="0" marL="0">
              <a:buNone/>
            </a:pPr>
            <a:r>
              <a:rPr lang="en-US" sz="1400" b="1" dirty="0">
                <a:solidFill>
                  <a:srgbClr val="0C4A6E"/>
                </a:solidFill>
                <a:latin typeface="Calibri" pitchFamily="34" charset="0"/>
                <a:ea typeface="Calibri" pitchFamily="34" charset="-122"/>
                <a:cs typeface="Calibri" pitchFamily="34" charset="-120"/>
              </a:rPr>
              <a:t>Classification</a:t>
            </a:r>
            <a:endParaRPr lang="en-US" sz="1400" dirty="0"/>
          </a:p>
        </p:txBody>
      </p:sp>
      <p:sp>
        <p:nvSpPr>
          <p:cNvPr id="8" name="Text 6"/>
          <p:cNvSpPr/>
          <p:nvPr/>
        </p:nvSpPr>
        <p:spPr>
          <a:xfrm>
            <a:off x="2971800" y="2221992"/>
            <a:ext cx="3383280" cy="603504"/>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category, subcategory</a:t>
            </a:r>
            <a:endParaRPr lang="en-US" sz="1300" dirty="0"/>
          </a:p>
        </p:txBody>
      </p:sp>
      <p:sp>
        <p:nvSpPr>
          <p:cNvPr id="9" name="Shape 7"/>
          <p:cNvSpPr/>
          <p:nvPr/>
        </p:nvSpPr>
        <p:spPr>
          <a:xfrm>
            <a:off x="822960" y="2935224"/>
            <a:ext cx="5669280" cy="603504"/>
          </a:xfrm>
          <a:prstGeom prst="roundRect">
            <a:avLst>
              <a:gd name="adj" fmla="val 9091"/>
            </a:avLst>
          </a:prstGeom>
          <a:solidFill>
            <a:srgbClr val="F4F9FB"/>
          </a:solidFill>
          <a:ln/>
        </p:spPr>
      </p:sp>
      <p:sp>
        <p:nvSpPr>
          <p:cNvPr id="10" name="Text 8"/>
          <p:cNvSpPr/>
          <p:nvPr/>
        </p:nvSpPr>
        <p:spPr>
          <a:xfrm>
            <a:off x="1005840" y="2935224"/>
            <a:ext cx="1920240" cy="603504"/>
          </a:xfrm>
          <a:prstGeom prst="rect">
            <a:avLst/>
          </a:prstGeom>
          <a:noFill/>
          <a:ln/>
        </p:spPr>
        <p:txBody>
          <a:bodyPr wrap="square" lIns="0" tIns="0" rIns="0" bIns="0" rtlCol="0" anchor="ctr"/>
          <a:lstStyle/>
          <a:p>
            <a:pPr indent="0" marL="0">
              <a:buNone/>
            </a:pPr>
            <a:r>
              <a:rPr lang="en-US" sz="1400" b="1" dirty="0">
                <a:solidFill>
                  <a:srgbClr val="0C4A6E"/>
                </a:solidFill>
                <a:latin typeface="Calibri" pitchFamily="34" charset="0"/>
                <a:ea typeface="Calibri" pitchFamily="34" charset="-122"/>
                <a:cs typeface="Calibri" pitchFamily="34" charset="-120"/>
              </a:rPr>
              <a:t>Location</a:t>
            </a:r>
            <a:endParaRPr lang="en-US" sz="1400" dirty="0"/>
          </a:p>
        </p:txBody>
      </p:sp>
      <p:sp>
        <p:nvSpPr>
          <p:cNvPr id="11" name="Text 9"/>
          <p:cNvSpPr/>
          <p:nvPr/>
        </p:nvSpPr>
        <p:spPr>
          <a:xfrm>
            <a:off x="2971800" y="2935224"/>
            <a:ext cx="3383280" cy="603504"/>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lat, lon, address, plz</a:t>
            </a:r>
            <a:endParaRPr lang="en-US" sz="1300" dirty="0"/>
          </a:p>
        </p:txBody>
      </p:sp>
      <p:sp>
        <p:nvSpPr>
          <p:cNvPr id="12" name="Shape 10"/>
          <p:cNvSpPr/>
          <p:nvPr/>
        </p:nvSpPr>
        <p:spPr>
          <a:xfrm>
            <a:off x="822960" y="3648456"/>
            <a:ext cx="5669280" cy="603504"/>
          </a:xfrm>
          <a:prstGeom prst="roundRect">
            <a:avLst>
              <a:gd name="adj" fmla="val 9091"/>
            </a:avLst>
          </a:prstGeom>
          <a:solidFill>
            <a:srgbClr val="F4F9FB"/>
          </a:solidFill>
          <a:ln/>
        </p:spPr>
      </p:sp>
      <p:sp>
        <p:nvSpPr>
          <p:cNvPr id="13" name="Text 11"/>
          <p:cNvSpPr/>
          <p:nvPr/>
        </p:nvSpPr>
        <p:spPr>
          <a:xfrm>
            <a:off x="1005840" y="3648456"/>
            <a:ext cx="1920240" cy="603504"/>
          </a:xfrm>
          <a:prstGeom prst="rect">
            <a:avLst/>
          </a:prstGeom>
          <a:noFill/>
          <a:ln/>
        </p:spPr>
        <p:txBody>
          <a:bodyPr wrap="square" lIns="0" tIns="0" rIns="0" bIns="0" rtlCol="0" anchor="ctr"/>
          <a:lstStyle/>
          <a:p>
            <a:pPr indent="0" marL="0">
              <a:buNone/>
            </a:pPr>
            <a:r>
              <a:rPr lang="en-US" sz="1400" b="1" dirty="0">
                <a:solidFill>
                  <a:srgbClr val="0C4A6E"/>
                </a:solidFill>
                <a:latin typeface="Calibri" pitchFamily="34" charset="0"/>
                <a:ea typeface="Calibri" pitchFamily="34" charset="-122"/>
                <a:cs typeface="Calibri" pitchFamily="34" charset="-120"/>
              </a:rPr>
              <a:t>Access</a:t>
            </a:r>
            <a:endParaRPr lang="en-US" sz="1400" dirty="0"/>
          </a:p>
        </p:txBody>
      </p:sp>
      <p:sp>
        <p:nvSpPr>
          <p:cNvPr id="14" name="Text 12"/>
          <p:cNvSpPr/>
          <p:nvPr/>
        </p:nvSpPr>
        <p:spPr>
          <a:xfrm>
            <a:off x="2971800" y="3648456"/>
            <a:ext cx="3383280" cy="603504"/>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opening_hours</a:t>
            </a:r>
            <a:endParaRPr lang="en-US" sz="1300" dirty="0"/>
          </a:p>
        </p:txBody>
      </p:sp>
      <p:sp>
        <p:nvSpPr>
          <p:cNvPr id="15" name="Shape 13"/>
          <p:cNvSpPr/>
          <p:nvPr/>
        </p:nvSpPr>
        <p:spPr>
          <a:xfrm>
            <a:off x="822960" y="4361688"/>
            <a:ext cx="5669280" cy="603504"/>
          </a:xfrm>
          <a:prstGeom prst="roundRect">
            <a:avLst>
              <a:gd name="adj" fmla="val 9091"/>
            </a:avLst>
          </a:prstGeom>
          <a:solidFill>
            <a:srgbClr val="F4F9FB"/>
          </a:solidFill>
          <a:ln/>
        </p:spPr>
      </p:sp>
      <p:sp>
        <p:nvSpPr>
          <p:cNvPr id="16" name="Text 14"/>
          <p:cNvSpPr/>
          <p:nvPr/>
        </p:nvSpPr>
        <p:spPr>
          <a:xfrm>
            <a:off x="1005840" y="4361688"/>
            <a:ext cx="1920240" cy="603504"/>
          </a:xfrm>
          <a:prstGeom prst="rect">
            <a:avLst/>
          </a:prstGeom>
          <a:noFill/>
          <a:ln/>
        </p:spPr>
        <p:txBody>
          <a:bodyPr wrap="square" lIns="0" tIns="0" rIns="0" bIns="0" rtlCol="0" anchor="ctr"/>
          <a:lstStyle/>
          <a:p>
            <a:pPr indent="0" marL="0">
              <a:buNone/>
            </a:pPr>
            <a:r>
              <a:rPr lang="en-US" sz="1400" b="1" dirty="0">
                <a:solidFill>
                  <a:srgbClr val="0C4A6E"/>
                </a:solidFill>
                <a:latin typeface="Calibri" pitchFamily="34" charset="0"/>
                <a:ea typeface="Calibri" pitchFamily="34" charset="-122"/>
                <a:cs typeface="Calibri" pitchFamily="34" charset="-120"/>
              </a:rPr>
              <a:t>Provenance</a:t>
            </a:r>
            <a:endParaRPr lang="en-US" sz="1400" dirty="0"/>
          </a:p>
        </p:txBody>
      </p:sp>
      <p:sp>
        <p:nvSpPr>
          <p:cNvPr id="17" name="Text 15"/>
          <p:cNvSpPr/>
          <p:nvPr/>
        </p:nvSpPr>
        <p:spPr>
          <a:xfrm>
            <a:off x="2971800" y="4361688"/>
            <a:ext cx="3383280" cy="603504"/>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source, license</a:t>
            </a:r>
            <a:endParaRPr lang="en-US" sz="1300" dirty="0"/>
          </a:p>
        </p:txBody>
      </p:sp>
      <p:sp>
        <p:nvSpPr>
          <p:cNvPr id="18" name="Shape 16"/>
          <p:cNvSpPr/>
          <p:nvPr/>
        </p:nvSpPr>
        <p:spPr>
          <a:xfrm>
            <a:off x="822960" y="5074920"/>
            <a:ext cx="5669280" cy="603504"/>
          </a:xfrm>
          <a:prstGeom prst="roundRect">
            <a:avLst>
              <a:gd name="adj" fmla="val 9091"/>
            </a:avLst>
          </a:prstGeom>
          <a:solidFill>
            <a:srgbClr val="FDECEC"/>
          </a:solidFill>
          <a:ln/>
        </p:spPr>
      </p:sp>
      <p:sp>
        <p:nvSpPr>
          <p:cNvPr id="19" name="Text 17"/>
          <p:cNvSpPr/>
          <p:nvPr/>
        </p:nvSpPr>
        <p:spPr>
          <a:xfrm>
            <a:off x="1005840" y="5074920"/>
            <a:ext cx="1920240" cy="603504"/>
          </a:xfrm>
          <a:prstGeom prst="rect">
            <a:avLst/>
          </a:prstGeom>
          <a:noFill/>
          <a:ln/>
        </p:spPr>
        <p:txBody>
          <a:bodyPr wrap="square" lIns="0" tIns="0" rIns="0" bIns="0" rtlCol="0" anchor="ctr"/>
          <a:lstStyle/>
          <a:p>
            <a:pPr indent="0" marL="0">
              <a:buNone/>
            </a:pPr>
            <a:r>
              <a:rPr lang="en-US" sz="1400" b="1" dirty="0">
                <a:solidFill>
                  <a:srgbClr val="E31A1C"/>
                </a:solidFill>
                <a:latin typeface="Calibri" pitchFamily="34" charset="0"/>
                <a:ea typeface="Calibri" pitchFamily="34" charset="-122"/>
                <a:cs typeface="Calibri" pitchFamily="34" charset="-120"/>
              </a:rPr>
              <a:t>Derived</a:t>
            </a:r>
            <a:endParaRPr lang="en-US" sz="1400" dirty="0"/>
          </a:p>
        </p:txBody>
      </p:sp>
      <p:sp>
        <p:nvSpPr>
          <p:cNvPr id="20" name="Text 18"/>
          <p:cNvSpPr/>
          <p:nvPr/>
        </p:nvSpPr>
        <p:spPr>
          <a:xfrm>
            <a:off x="2971800" y="5074920"/>
            <a:ext cx="3383280" cy="603504"/>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coole_raeume (yes / no)</a:t>
            </a:r>
            <a:endParaRPr lang="en-US" sz="1300" dirty="0"/>
          </a:p>
        </p:txBody>
      </p:sp>
      <p:sp>
        <p:nvSpPr>
          <p:cNvPr id="21" name="Shape 19"/>
          <p:cNvSpPr/>
          <p:nvPr/>
        </p:nvSpPr>
        <p:spPr>
          <a:xfrm>
            <a:off x="6903720" y="1508760"/>
            <a:ext cx="4709160" cy="4206240"/>
          </a:xfrm>
          <a:prstGeom prst="roundRect">
            <a:avLst>
              <a:gd name="adj" fmla="val 2609"/>
            </a:avLst>
          </a:prstGeom>
          <a:solidFill>
            <a:srgbClr val="0C4A6E"/>
          </a:solidFill>
          <a:ln/>
          <a:effectLst>
            <a:outerShdw sx="100000" sy="100000" kx="0" ky="0" algn="bl" rotWithShape="0" blurRad="88900" dist="25400" dir="2700000">
              <a:srgbClr val="0C4A6E">
                <a:alpha val="16000"/>
              </a:srgbClr>
            </a:outerShdw>
          </a:effectLst>
        </p:spPr>
      </p:sp>
      <p:sp>
        <p:nvSpPr>
          <p:cNvPr id="22" name="Shape 20"/>
          <p:cNvSpPr/>
          <p:nvPr/>
        </p:nvSpPr>
        <p:spPr>
          <a:xfrm>
            <a:off x="7178040" y="1783080"/>
            <a:ext cx="731520" cy="73152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23" name="Image 0" descr="preencoded.png">    </p:cNvPr>
          <p:cNvPicPr>
            <a:picLocks noChangeAspect="1"/>
          </p:cNvPicPr>
          <p:nvPr/>
        </p:nvPicPr>
        <p:blipFill>
          <a:blip r:embed="rId1"/>
          <a:stretch>
            <a:fillRect/>
          </a:stretch>
        </p:blipFill>
        <p:spPr>
          <a:xfrm>
            <a:off x="7368235" y="1973275"/>
            <a:ext cx="351130" cy="351130"/>
          </a:xfrm>
          <a:prstGeom prst="rect">
            <a:avLst/>
          </a:prstGeom>
        </p:spPr>
      </p:pic>
      <p:sp>
        <p:nvSpPr>
          <p:cNvPr id="24" name="Text 21"/>
          <p:cNvSpPr/>
          <p:nvPr/>
        </p:nvSpPr>
        <p:spPr>
          <a:xfrm>
            <a:off x="8046720" y="1874520"/>
            <a:ext cx="3383280"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Where the originality lives</a:t>
            </a:r>
            <a:endParaRPr lang="en-US" sz="1900" dirty="0"/>
          </a:p>
        </p:txBody>
      </p:sp>
      <p:sp>
        <p:nvSpPr>
          <p:cNvPr id="25" name="Text 22"/>
          <p:cNvSpPr/>
          <p:nvPr/>
        </p:nvSpPr>
        <p:spPr>
          <a:xfrm>
            <a:off x="7315200" y="2697480"/>
            <a:ext cx="4023360" cy="1737360"/>
          </a:xfrm>
          <a:prstGeom prst="rect">
            <a:avLst/>
          </a:prstGeom>
          <a:noFill/>
          <a:ln/>
        </p:spPr>
        <p:txBody>
          <a:bodyPr wrap="square" rtlCol="0" anchor="t"/>
          <a:lstStyle/>
          <a:p>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The </a:t>
            </a:r>
            <a:pPr indent="0" marL="0">
              <a:lnSpc>
                <a:spcPct val="110000"/>
              </a:lnSpc>
              <a:buNone/>
            </a:pPr>
            <a:r>
              <a:rPr lang="en-US" sz="1500" b="1" dirty="0">
                <a:solidFill>
                  <a:srgbClr val="FFFFFF"/>
                </a:solidFill>
                <a:latin typeface="Courier New" pitchFamily="34" charset="0"/>
                <a:ea typeface="Courier New" pitchFamily="34" charset="-122"/>
                <a:cs typeface="Courier New" pitchFamily="34" charset="-120"/>
              </a:rPr>
              <a:t>coole_raeume</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 flag is derived by cross-referencing the City's official Hitzeaktionsplan (Version 1.0, June 2025) against the OGD church and library layers, matched by object ID.</a:t>
            </a:r>
            <a:endParaRPr lang="en-US" sz="1500" dirty="0"/>
          </a:p>
        </p:txBody>
      </p:sp>
      <p:sp>
        <p:nvSpPr>
          <p:cNvPr id="26" name="Text 23"/>
          <p:cNvSpPr/>
          <p:nvPr/>
        </p:nvSpPr>
        <p:spPr>
          <a:xfrm>
            <a:off x="7315200" y="4434840"/>
            <a:ext cx="4023360" cy="1143000"/>
          </a:xfrm>
          <a:prstGeom prst="rect">
            <a:avLst/>
          </a:prstGeom>
          <a:noFill/>
          <a:ln/>
        </p:spPr>
        <p:txBody>
          <a:bodyPr wrap="square" rtlCol="0" anchor="t"/>
          <a:lstStyle/>
          <a:p>
            <a:pPr indent="0" marL="0">
              <a:lnSpc>
                <a:spcPct val="110000"/>
              </a:lnSpc>
              <a:buNone/>
            </a:pPr>
            <a:r>
              <a:rPr lang="en-US" sz="1400" i="1" dirty="0">
                <a:solidFill>
                  <a:srgbClr val="FFFFFF"/>
                </a:solidFill>
                <a:latin typeface="Calibri" pitchFamily="34" charset="0"/>
                <a:ea typeface="Calibri" pitchFamily="34" charset="-122"/>
                <a:cs typeface="Calibri" pitchFamily="34" charset="-120"/>
              </a:rPr>
              <a:t>The novelty is the combination and the derived attribute, not any single source. This satisfies the “new or significant update” requirement.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Availability and license</a:t>
            </a:r>
            <a:endParaRPr lang="en-US" sz="3200" dirty="0"/>
          </a:p>
        </p:txBody>
      </p:sp>
      <p:sp>
        <p:nvSpPr>
          <p:cNvPr id="3" name="Shape 1"/>
          <p:cNvSpPr/>
          <p:nvPr/>
        </p:nvSpPr>
        <p:spPr>
          <a:xfrm>
            <a:off x="822960" y="1508760"/>
            <a:ext cx="5166360" cy="4160520"/>
          </a:xfrm>
          <a:prstGeom prst="roundRect">
            <a:avLst>
              <a:gd name="adj" fmla="val 2637"/>
            </a:avLst>
          </a:prstGeom>
          <a:solidFill>
            <a:srgbClr val="EAF3F7"/>
          </a:solidFill>
          <a:ln/>
          <a:effectLst>
            <a:outerShdw sx="100000" sy="100000" kx="0" ky="0" algn="bl" rotWithShape="0" blurRad="88900" dist="25400" dir="2700000">
              <a:srgbClr val="0C4A6E">
                <a:alpha val="16000"/>
              </a:srgbClr>
            </a:outerShdw>
          </a:effectLst>
        </p:spPr>
      </p:sp>
      <p:sp>
        <p:nvSpPr>
          <p:cNvPr id="4" name="Shape 2"/>
          <p:cNvSpPr/>
          <p:nvPr/>
        </p:nvSpPr>
        <p:spPr>
          <a:xfrm>
            <a:off x="1097280" y="1783080"/>
            <a:ext cx="640080" cy="64008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5" name="Image 0" descr="preencoded.png">    </p:cNvPr>
          <p:cNvPicPr>
            <a:picLocks noChangeAspect="1"/>
          </p:cNvPicPr>
          <p:nvPr/>
        </p:nvPicPr>
        <p:blipFill>
          <a:blip r:embed="rId1"/>
          <a:stretch>
            <a:fillRect/>
          </a:stretch>
        </p:blipFill>
        <p:spPr>
          <a:xfrm>
            <a:off x="1263701" y="1949501"/>
            <a:ext cx="307238" cy="307238"/>
          </a:xfrm>
          <a:prstGeom prst="rect">
            <a:avLst/>
          </a:prstGeom>
        </p:spPr>
      </p:pic>
      <p:sp>
        <p:nvSpPr>
          <p:cNvPr id="6" name="Text 3"/>
          <p:cNvSpPr/>
          <p:nvPr/>
        </p:nvSpPr>
        <p:spPr>
          <a:xfrm>
            <a:off x="1874520" y="1810512"/>
            <a:ext cx="3931920" cy="594360"/>
          </a:xfrm>
          <a:prstGeom prst="rect">
            <a:avLst/>
          </a:prstGeom>
          <a:noFill/>
          <a:ln/>
        </p:spPr>
        <p:txBody>
          <a:bodyPr wrap="square" lIns="0" tIns="0" rIns="0" bIns="0" rtlCol="0" anchor="ctr"/>
          <a:lstStyle/>
          <a:p>
            <a:pPr indent="0" marL="0">
              <a:buNone/>
            </a:pPr>
            <a:r>
              <a:rPr lang="en-US" sz="1900" b="1" dirty="0">
                <a:solidFill>
                  <a:srgbClr val="0C4A6E"/>
                </a:solidFill>
                <a:latin typeface="Cambria" pitchFamily="34" charset="0"/>
                <a:ea typeface="Cambria" pitchFamily="34" charset="-122"/>
                <a:cs typeface="Cambria" pitchFamily="34" charset="-120"/>
              </a:rPr>
              <a:t>Published openly</a:t>
            </a:r>
            <a:endParaRPr lang="en-US" sz="1900" dirty="0"/>
          </a:p>
        </p:txBody>
      </p:sp>
      <p:sp>
        <p:nvSpPr>
          <p:cNvPr id="7" name="Text 4"/>
          <p:cNvSpPr/>
          <p:nvPr/>
        </p:nvSpPr>
        <p:spPr>
          <a:xfrm>
            <a:off x="1097280" y="2606040"/>
            <a:ext cx="4617720" cy="2926080"/>
          </a:xfrm>
          <a:prstGeom prst="rect">
            <a:avLst/>
          </a:prstGeom>
          <a:noFill/>
          <a:ln/>
        </p:spPr>
        <p:txBody>
          <a:bodyPr wrap="square" rtlCol="0" anchor="t"/>
          <a:lstStyle/>
          <a:p>
            <a:pPr indent="0" marL="0">
              <a:lnSpc>
                <a:spcPct val="105000"/>
              </a:lnSpc>
              <a:buNone/>
            </a:pPr>
            <a:r>
              <a:rPr lang="en-US" sz="1500" b="1" dirty="0">
                <a:solidFill>
                  <a:srgbClr val="1E293B"/>
                </a:solidFill>
                <a:latin typeface="Calibri" pitchFamily="34" charset="0"/>
                <a:ea typeface="Calibri" pitchFamily="34" charset="-122"/>
                <a:cs typeface="Calibri" pitchFamily="34" charset="-120"/>
              </a:rPr>
              <a:t>GitHub repository</a:t>
            </a:r>
            <a:endParaRPr lang="en-US" sz="1500" dirty="0"/>
          </a:p>
          <a:p>
            <a:pPr indent="0" marL="0">
              <a:lnSpc>
                <a:spcPct val="105000"/>
              </a:lnSpc>
              <a:spcAft>
                <a:spcPts val="1400"/>
              </a:spcAft>
              <a:buNone/>
            </a:pPr>
            <a:r>
              <a:rPr lang="en-US" sz="1250" dirty="0">
                <a:solidFill>
                  <a:srgbClr val="1C7293"/>
                </a:solidFill>
                <a:latin typeface="Courier New" pitchFamily="34" charset="0"/>
                <a:ea typeface="Courier New" pitchFamily="34" charset="-122"/>
                <a:cs typeface="Courier New" pitchFamily="34" charset="-120"/>
              </a:rPr>
              <a:t>github.com/englischmattis-crypto/graz-cool-spots</a:t>
            </a:r>
            <a:endParaRPr lang="en-US" sz="1500" dirty="0"/>
          </a:p>
          <a:p>
            <a:pPr indent="0" marL="0">
              <a:lnSpc>
                <a:spcPct val="105000"/>
              </a:lnSpc>
              <a:buNone/>
            </a:pPr>
            <a:r>
              <a:rPr lang="en-US" sz="1500" b="1" dirty="0">
                <a:solidFill>
                  <a:srgbClr val="1E293B"/>
                </a:solidFill>
                <a:latin typeface="Calibri" pitchFamily="34" charset="0"/>
                <a:ea typeface="Calibri" pitchFamily="34" charset="-122"/>
                <a:cs typeface="Calibri" pitchFamily="34" charset="-120"/>
              </a:rPr>
              <a:t>Live interactive map</a:t>
            </a:r>
            <a:endParaRPr lang="en-US" sz="1500" dirty="0"/>
          </a:p>
          <a:p>
            <a:pPr indent="0" marL="0">
              <a:lnSpc>
                <a:spcPct val="105000"/>
              </a:lnSpc>
              <a:spcAft>
                <a:spcPts val="1400"/>
              </a:spcAft>
              <a:buNone/>
            </a:pPr>
            <a:r>
              <a:rPr lang="en-US" sz="1500" dirty="0">
                <a:solidFill>
                  <a:srgbClr val="64748B"/>
                </a:solidFill>
                <a:latin typeface="Calibri" pitchFamily="34" charset="0"/>
                <a:ea typeface="Calibri" pitchFamily="34" charset="-122"/>
                <a:cs typeface="Calibri" pitchFamily="34" charset="-120"/>
              </a:rPr>
              <a:t>hosted via GitHub Pages</a:t>
            </a:r>
            <a:endParaRPr lang="en-US" sz="1500" dirty="0"/>
          </a:p>
          <a:p>
            <a:pPr indent="0" marL="0">
              <a:lnSpc>
                <a:spcPct val="105000"/>
              </a:lnSpc>
              <a:buNone/>
            </a:pPr>
            <a:r>
              <a:rPr lang="en-US" sz="1500" b="1" dirty="0">
                <a:solidFill>
                  <a:srgbClr val="1E293B"/>
                </a:solidFill>
                <a:latin typeface="Calibri" pitchFamily="34" charset="0"/>
                <a:ea typeface="Calibri" pitchFamily="34" charset="-122"/>
                <a:cs typeface="Calibri" pitchFamily="34" charset="-120"/>
              </a:rPr>
              <a:t>Formats</a:t>
            </a:r>
            <a:endParaRPr lang="en-US" sz="1500" dirty="0"/>
          </a:p>
          <a:p>
            <a:pPr indent="0" marL="0">
              <a:lnSpc>
                <a:spcPct val="105000"/>
              </a:lnSpc>
              <a:buNone/>
            </a:pPr>
            <a:r>
              <a:rPr lang="en-US" sz="1500" dirty="0">
                <a:solidFill>
                  <a:srgbClr val="1E293B"/>
                </a:solidFill>
                <a:latin typeface="Calibri" pitchFamily="34" charset="0"/>
                <a:ea typeface="Calibri" pitchFamily="34" charset="-122"/>
                <a:cs typeface="Calibri" pitchFamily="34" charset="-120"/>
              </a:rPr>
              <a:t>CSV + GeoJSON, plus the Python build scripts and raw source downloads for traceability.</a:t>
            </a:r>
            <a:endParaRPr lang="en-US" sz="1500" dirty="0"/>
          </a:p>
        </p:txBody>
      </p:sp>
      <p:sp>
        <p:nvSpPr>
          <p:cNvPr id="8" name="Shape 5"/>
          <p:cNvSpPr/>
          <p:nvPr/>
        </p:nvSpPr>
        <p:spPr>
          <a:xfrm>
            <a:off x="6355080" y="1508760"/>
            <a:ext cx="4983480" cy="4160520"/>
          </a:xfrm>
          <a:prstGeom prst="roundRect">
            <a:avLst>
              <a:gd name="adj" fmla="val 2637"/>
            </a:avLst>
          </a:prstGeom>
          <a:solidFill>
            <a:srgbClr val="EAF3F7"/>
          </a:solidFill>
          <a:ln/>
          <a:effectLst>
            <a:outerShdw sx="100000" sy="100000" kx="0" ky="0" algn="bl" rotWithShape="0" blurRad="88900" dist="25400" dir="2700000">
              <a:srgbClr val="0C4A6E">
                <a:alpha val="16000"/>
              </a:srgbClr>
            </a:outerShdw>
          </a:effectLst>
        </p:spPr>
      </p:sp>
      <p:sp>
        <p:nvSpPr>
          <p:cNvPr id="9" name="Shape 6"/>
          <p:cNvSpPr/>
          <p:nvPr/>
        </p:nvSpPr>
        <p:spPr>
          <a:xfrm>
            <a:off x="6629400" y="1783080"/>
            <a:ext cx="640080" cy="64008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0" name="Image 1" descr="preencoded.png">    </p:cNvPr>
          <p:cNvPicPr>
            <a:picLocks noChangeAspect="1"/>
          </p:cNvPicPr>
          <p:nvPr/>
        </p:nvPicPr>
        <p:blipFill>
          <a:blip r:embed="rId2"/>
          <a:stretch>
            <a:fillRect/>
          </a:stretch>
        </p:blipFill>
        <p:spPr>
          <a:xfrm>
            <a:off x="6795821" y="1949501"/>
            <a:ext cx="307238" cy="307238"/>
          </a:xfrm>
          <a:prstGeom prst="rect">
            <a:avLst/>
          </a:prstGeom>
        </p:spPr>
      </p:pic>
      <p:sp>
        <p:nvSpPr>
          <p:cNvPr id="11" name="Text 7"/>
          <p:cNvSpPr/>
          <p:nvPr/>
        </p:nvSpPr>
        <p:spPr>
          <a:xfrm>
            <a:off x="7406640" y="1810512"/>
            <a:ext cx="3657600" cy="594360"/>
          </a:xfrm>
          <a:prstGeom prst="rect">
            <a:avLst/>
          </a:prstGeom>
          <a:noFill/>
          <a:ln/>
        </p:spPr>
        <p:txBody>
          <a:bodyPr wrap="square" lIns="0" tIns="0" rIns="0" bIns="0" rtlCol="0" anchor="ctr"/>
          <a:lstStyle/>
          <a:p>
            <a:pPr indent="0" marL="0">
              <a:buNone/>
            </a:pPr>
            <a:r>
              <a:rPr lang="en-US" sz="1900" b="1" dirty="0">
                <a:solidFill>
                  <a:srgbClr val="0C4A6E"/>
                </a:solidFill>
                <a:latin typeface="Cambria" pitchFamily="34" charset="0"/>
                <a:ea typeface="Cambria" pitchFamily="34" charset="-122"/>
                <a:cs typeface="Cambria" pitchFamily="34" charset="-120"/>
              </a:rPr>
              <a:t>License</a:t>
            </a:r>
            <a:endParaRPr lang="en-US" sz="1900" dirty="0"/>
          </a:p>
        </p:txBody>
      </p:sp>
      <p:sp>
        <p:nvSpPr>
          <p:cNvPr id="12" name="Text 8"/>
          <p:cNvSpPr/>
          <p:nvPr/>
        </p:nvSpPr>
        <p:spPr>
          <a:xfrm>
            <a:off x="6629400" y="2606040"/>
            <a:ext cx="4434840" cy="2926080"/>
          </a:xfrm>
          <a:prstGeom prst="rect">
            <a:avLst/>
          </a:prstGeom>
          <a:noFill/>
          <a:ln/>
        </p:spPr>
        <p:txBody>
          <a:bodyPr wrap="square" rtlCol="0" anchor="t"/>
          <a:lstStyle/>
          <a:p>
            <a:pPr indent="0" marL="0">
              <a:lnSpc>
                <a:spcPct val="105000"/>
              </a:lnSpc>
              <a:spcAft>
                <a:spcPts val="400"/>
              </a:spcAft>
              <a:buNone/>
            </a:pPr>
            <a:r>
              <a:rPr lang="en-US" sz="1500" b="1" dirty="0">
                <a:solidFill>
                  <a:srgbClr val="1E293B"/>
                </a:solidFill>
                <a:latin typeface="Calibri" pitchFamily="34" charset="0"/>
                <a:ea typeface="Calibri" pitchFamily="34" charset="-122"/>
                <a:cs typeface="Calibri" pitchFamily="34" charset="-120"/>
              </a:rPr>
              <a:t>Source licenses:</a:t>
            </a:r>
            <a:endParaRPr lang="en-US" sz="1500" dirty="0"/>
          </a:p>
          <a:p>
            <a:pPr indent="0" marL="0">
              <a:lnSpc>
                <a:spcPct val="105000"/>
              </a:lnSpc>
              <a:buNone/>
            </a:pPr>
            <a:r>
              <a:rPr lang="en-US" sz="1500" b="1" dirty="0">
                <a:solidFill>
                  <a:srgbClr val="1C7293"/>
                </a:solidFill>
                <a:latin typeface="Calibri" pitchFamily="34" charset="0"/>
                <a:ea typeface="Calibri" pitchFamily="34" charset="-122"/>
                <a:cs typeface="Calibri" pitchFamily="34" charset="-120"/>
              </a:rPr>
              <a:t>CC BY 4.0</a:t>
            </a:r>
            <a:pPr indent="0" marL="0">
              <a:lnSpc>
                <a:spcPct val="105000"/>
              </a:lnSpc>
              <a:buNone/>
            </a:pPr>
            <a:r>
              <a:rPr lang="en-US" sz="1500" dirty="0">
                <a:solidFill>
                  <a:srgbClr val="1E293B"/>
                </a:solidFill>
                <a:latin typeface="Calibri" pitchFamily="34" charset="0"/>
                <a:ea typeface="Calibri" pitchFamily="34" charset="-122"/>
                <a:cs typeface="Calibri" pitchFamily="34" charset="-120"/>
              </a:rPr>
              <a:t>  (Stadt Graz OGD: fountains, libraries, churches; Grazer Freizeitbetriebe: pools; Holding Graz / Mamilade: spray, water playgrounds)</a:t>
            </a:r>
            <a:endParaRPr lang="en-US" sz="1500" dirty="0"/>
          </a:p>
          <a:p>
            <a:pPr indent="0" marL="0">
              <a:lnSpc>
                <a:spcPct val="105000"/>
              </a:lnSpc>
              <a:buNone/>
            </a:pPr>
            <a:r>
              <a:rPr lang="en-US" sz="1500" b="1" dirty="0">
                <a:solidFill>
                  <a:srgbClr val="2E7D32"/>
                </a:solidFill>
                <a:latin typeface="Calibri" pitchFamily="34" charset="0"/>
                <a:ea typeface="Calibri" pitchFamily="34" charset="-122"/>
                <a:cs typeface="Calibri" pitchFamily="34" charset="-120"/>
              </a:rPr>
              <a:t>ODbL 1.0</a:t>
            </a:r>
            <a:pPr indent="0" marL="0">
              <a:lnSpc>
                <a:spcPct val="105000"/>
              </a:lnSpc>
              <a:spcAft>
                <a:spcPts val="1200"/>
              </a:spcAft>
              <a:buNone/>
            </a:pPr>
            <a:r>
              <a:rPr lang="en-US" sz="1500" dirty="0">
                <a:solidFill>
                  <a:srgbClr val="1E293B"/>
                </a:solidFill>
                <a:latin typeface="Calibri" pitchFamily="34" charset="0"/>
                <a:ea typeface="Calibri" pitchFamily="34" charset="-122"/>
                <a:cs typeface="Calibri" pitchFamily="34" charset="-120"/>
              </a:rPr>
              <a:t>  (OpenStreetMap parks)</a:t>
            </a:r>
            <a:endParaRPr lang="en-US" sz="1500" dirty="0"/>
          </a:p>
          <a:p>
            <a:pPr indent="0" marL="0">
              <a:lnSpc>
                <a:spcPct val="105000"/>
              </a:lnSpc>
              <a:buNone/>
            </a:pPr>
            <a:r>
              <a:rPr lang="en-US" sz="1500" dirty="0">
                <a:solidFill>
                  <a:srgbClr val="1E293B"/>
                </a:solidFill>
                <a:latin typeface="Calibri" pitchFamily="34" charset="0"/>
                <a:ea typeface="Calibri" pitchFamily="34" charset="-122"/>
                <a:cs typeface="Calibri" pitchFamily="34" charset="-120"/>
              </a:rPr>
              <a:t>Combined dataset released under </a:t>
            </a:r>
            <a:pPr indent="0" marL="0">
              <a:lnSpc>
                <a:spcPct val="105000"/>
              </a:lnSpc>
              <a:buNone/>
            </a:pPr>
            <a:r>
              <a:rPr lang="en-US" sz="1500" b="1" dirty="0">
                <a:solidFill>
                  <a:srgbClr val="2E7D32"/>
                </a:solidFill>
                <a:latin typeface="Calibri" pitchFamily="34" charset="0"/>
                <a:ea typeface="Calibri" pitchFamily="34" charset="-122"/>
                <a:cs typeface="Calibri" pitchFamily="34" charset="-120"/>
              </a:rPr>
              <a:t>ODbL 1.0</a:t>
            </a:r>
            <a:pPr indent="0" marL="0">
              <a:lnSpc>
                <a:spcPct val="105000"/>
              </a:lnSpc>
              <a:spcAft>
                <a:spcPts val="1000"/>
              </a:spcAft>
              <a:buNone/>
            </a:pPr>
            <a:r>
              <a:rPr lang="en-US" sz="1500" dirty="0">
                <a:solidFill>
                  <a:srgbClr val="1E293B"/>
                </a:solidFill>
                <a:latin typeface="Calibri" pitchFamily="34" charset="0"/>
                <a:ea typeface="Calibri" pitchFamily="34" charset="-122"/>
                <a:cs typeface="Calibri" pitchFamily="34" charset="-120"/>
              </a:rPr>
              <a:t> (attribution + share-alike), which respects OpenStreetMap's share-alike requirement for derivative databases.</a:t>
            </a:r>
            <a:endParaRPr lang="en-US" sz="1500" dirty="0"/>
          </a:p>
          <a:p>
            <a:pPr indent="0" marL="0">
              <a:lnSpc>
                <a:spcPct val="105000"/>
              </a:lnSpc>
              <a:buNone/>
            </a:pPr>
            <a:r>
              <a:rPr lang="en-US" sz="1500" i="1" dirty="0">
                <a:solidFill>
                  <a:srgbClr val="64748B"/>
                </a:solidFill>
                <a:latin typeface="Calibri" pitchFamily="34" charset="0"/>
                <a:ea typeface="Calibri" pitchFamily="34" charset="-122"/>
                <a:cs typeface="Calibri" pitchFamily="34" charset="-120"/>
              </a:rPr>
              <a:t>Full attributions in LICENSE.md.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Use case</a:t>
            </a:r>
            <a:endParaRPr lang="en-US" sz="3200" dirty="0"/>
          </a:p>
        </p:txBody>
      </p:sp>
      <p:sp>
        <p:nvSpPr>
          <p:cNvPr id="3" name="Shape 1"/>
          <p:cNvSpPr/>
          <p:nvPr/>
        </p:nvSpPr>
        <p:spPr>
          <a:xfrm>
            <a:off x="822960" y="1463040"/>
            <a:ext cx="10515600" cy="1371600"/>
          </a:xfrm>
          <a:prstGeom prst="roundRect">
            <a:avLst>
              <a:gd name="adj" fmla="val 8000"/>
            </a:avLst>
          </a:prstGeom>
          <a:solidFill>
            <a:srgbClr val="0C4A6E"/>
          </a:solidFill>
          <a:ln/>
          <a:effectLst>
            <a:outerShdw sx="100000" sy="100000" kx="0" ky="0" algn="bl" rotWithShape="0" blurRad="88900" dist="25400" dir="2700000">
              <a:srgbClr val="0C4A6E">
                <a:alpha val="16000"/>
              </a:srgbClr>
            </a:outerShdw>
          </a:effectLst>
        </p:spPr>
      </p:sp>
      <p:sp>
        <p:nvSpPr>
          <p:cNvPr id="4" name="Shape 2"/>
          <p:cNvSpPr/>
          <p:nvPr/>
        </p:nvSpPr>
        <p:spPr>
          <a:xfrm>
            <a:off x="1143000" y="1783080"/>
            <a:ext cx="731520" cy="73152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5" name="Image 0" descr="preencoded.png">    </p:cNvPr>
          <p:cNvPicPr>
            <a:picLocks noChangeAspect="1"/>
          </p:cNvPicPr>
          <p:nvPr/>
        </p:nvPicPr>
        <p:blipFill>
          <a:blip r:embed="rId1"/>
          <a:stretch>
            <a:fillRect/>
          </a:stretch>
        </p:blipFill>
        <p:spPr>
          <a:xfrm>
            <a:off x="1333195" y="1973275"/>
            <a:ext cx="351130" cy="351130"/>
          </a:xfrm>
          <a:prstGeom prst="rect">
            <a:avLst/>
          </a:prstGeom>
        </p:spPr>
      </p:pic>
      <p:sp>
        <p:nvSpPr>
          <p:cNvPr id="6" name="Text 3"/>
          <p:cNvSpPr/>
          <p:nvPr/>
        </p:nvSpPr>
        <p:spPr>
          <a:xfrm>
            <a:off x="2103120" y="1463040"/>
            <a:ext cx="9144000" cy="1371600"/>
          </a:xfrm>
          <a:prstGeom prst="rect">
            <a:avLst/>
          </a:prstGeom>
          <a:noFill/>
          <a:ln/>
        </p:spPr>
        <p:txBody>
          <a:bodyPr wrap="square" rtlCol="0" anchor="ctr"/>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35°C in Graz:  </a:t>
            </a:r>
            <a:pPr indent="0" marL="0">
              <a:lnSpc>
                <a:spcPct val="105000"/>
              </a:lnSpc>
              <a:buNone/>
            </a:pPr>
            <a:r>
              <a:rPr lang="en-US" sz="1800" dirty="0">
                <a:solidFill>
                  <a:srgbClr val="CADCFC"/>
                </a:solidFill>
                <a:latin typeface="Calibri" pitchFamily="34" charset="0"/>
                <a:ea typeface="Calibri" pitchFamily="34" charset="-122"/>
                <a:cs typeface="Calibri" pitchFamily="34" charset="-120"/>
              </a:rPr>
              <a:t>a resident or visitor opens the map, filters by type, and finds the nearest fountain, shaded church, library, or pool.</a:t>
            </a:r>
            <a:endParaRPr lang="en-US" sz="1800" dirty="0"/>
          </a:p>
        </p:txBody>
      </p:sp>
      <p:sp>
        <p:nvSpPr>
          <p:cNvPr id="7" name="Shape 4"/>
          <p:cNvSpPr/>
          <p:nvPr/>
        </p:nvSpPr>
        <p:spPr>
          <a:xfrm>
            <a:off x="822960" y="3154680"/>
            <a:ext cx="3383280" cy="2606040"/>
          </a:xfrm>
          <a:prstGeom prst="roundRect">
            <a:avLst>
              <a:gd name="adj" fmla="val 3509"/>
            </a:avLst>
          </a:prstGeom>
          <a:solidFill>
            <a:srgbClr val="EAF3F7"/>
          </a:solidFill>
          <a:ln/>
          <a:effectLst>
            <a:outerShdw sx="100000" sy="100000" kx="0" ky="0" algn="bl" rotWithShape="0" blurRad="88900" dist="25400" dir="2700000">
              <a:srgbClr val="0C4A6E">
                <a:alpha val="16000"/>
              </a:srgbClr>
            </a:outerShdw>
          </a:effectLst>
        </p:spPr>
      </p:sp>
      <p:sp>
        <p:nvSpPr>
          <p:cNvPr id="8" name="Shape 5"/>
          <p:cNvSpPr/>
          <p:nvPr/>
        </p:nvSpPr>
        <p:spPr>
          <a:xfrm>
            <a:off x="1097280" y="3429000"/>
            <a:ext cx="640080" cy="64008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9" name="Image 1" descr="preencoded.png">    </p:cNvPr>
          <p:cNvPicPr>
            <a:picLocks noChangeAspect="1"/>
          </p:cNvPicPr>
          <p:nvPr/>
        </p:nvPicPr>
        <p:blipFill>
          <a:blip r:embed="rId2"/>
          <a:stretch>
            <a:fillRect/>
          </a:stretch>
        </p:blipFill>
        <p:spPr>
          <a:xfrm>
            <a:off x="1263701" y="3595421"/>
            <a:ext cx="307238" cy="307238"/>
          </a:xfrm>
          <a:prstGeom prst="rect">
            <a:avLst/>
          </a:prstGeom>
        </p:spPr>
      </p:pic>
      <p:sp>
        <p:nvSpPr>
          <p:cNvPr id="10" name="Text 6"/>
          <p:cNvSpPr/>
          <p:nvPr/>
        </p:nvSpPr>
        <p:spPr>
          <a:xfrm>
            <a:off x="1097280" y="4160520"/>
            <a:ext cx="2834640" cy="457200"/>
          </a:xfrm>
          <a:prstGeom prst="rect">
            <a:avLst/>
          </a:prstGeom>
          <a:noFill/>
          <a:ln/>
        </p:spPr>
        <p:txBody>
          <a:bodyPr wrap="square" lIns="0" tIns="0" rIns="0" bIns="0" rtlCol="0" anchor="ctr"/>
          <a:lstStyle/>
          <a:p>
            <a:pPr indent="0" marL="0">
              <a:buNone/>
            </a:pPr>
            <a:r>
              <a:rPr lang="en-US" sz="1700" b="1" dirty="0">
                <a:solidFill>
                  <a:srgbClr val="0C4A6E"/>
                </a:solidFill>
                <a:latin typeface="Cambria" pitchFamily="34" charset="0"/>
                <a:ea typeface="Cambria" pitchFamily="34" charset="-122"/>
                <a:cs typeface="Cambria" pitchFamily="34" charset="-120"/>
              </a:rPr>
              <a:t>Official vs. free</a:t>
            </a:r>
            <a:endParaRPr lang="en-US" sz="1700" dirty="0"/>
          </a:p>
        </p:txBody>
      </p:sp>
      <p:sp>
        <p:nvSpPr>
          <p:cNvPr id="11" name="Text 7"/>
          <p:cNvSpPr/>
          <p:nvPr/>
        </p:nvSpPr>
        <p:spPr>
          <a:xfrm>
            <a:off x="1097280" y="4617720"/>
            <a:ext cx="2834640" cy="100584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Compare the limited official program (13 spots) against the much larger set of free cooling infrastructure (276 more).</a:t>
            </a:r>
            <a:endParaRPr lang="en-US" sz="1350" dirty="0"/>
          </a:p>
        </p:txBody>
      </p:sp>
      <p:sp>
        <p:nvSpPr>
          <p:cNvPr id="12" name="Shape 8"/>
          <p:cNvSpPr/>
          <p:nvPr/>
        </p:nvSpPr>
        <p:spPr>
          <a:xfrm>
            <a:off x="4480560" y="3154680"/>
            <a:ext cx="3383280" cy="2606040"/>
          </a:xfrm>
          <a:prstGeom prst="roundRect">
            <a:avLst>
              <a:gd name="adj" fmla="val 3509"/>
            </a:avLst>
          </a:prstGeom>
          <a:solidFill>
            <a:srgbClr val="EAF3F7"/>
          </a:solidFill>
          <a:ln/>
          <a:effectLst>
            <a:outerShdw sx="100000" sy="100000" kx="0" ky="0" algn="bl" rotWithShape="0" blurRad="88900" dist="25400" dir="2700000">
              <a:srgbClr val="0C4A6E">
                <a:alpha val="16000"/>
              </a:srgbClr>
            </a:outerShdw>
          </a:effectLst>
        </p:spPr>
      </p:sp>
      <p:sp>
        <p:nvSpPr>
          <p:cNvPr id="13" name="Shape 9"/>
          <p:cNvSpPr/>
          <p:nvPr/>
        </p:nvSpPr>
        <p:spPr>
          <a:xfrm>
            <a:off x="4754880" y="3429000"/>
            <a:ext cx="640080" cy="64008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4" name="Image 2" descr="preencoded.png">    </p:cNvPr>
          <p:cNvPicPr>
            <a:picLocks noChangeAspect="1"/>
          </p:cNvPicPr>
          <p:nvPr/>
        </p:nvPicPr>
        <p:blipFill>
          <a:blip r:embed="rId3"/>
          <a:stretch>
            <a:fillRect/>
          </a:stretch>
        </p:blipFill>
        <p:spPr>
          <a:xfrm>
            <a:off x="4921301" y="3595421"/>
            <a:ext cx="307238" cy="307238"/>
          </a:xfrm>
          <a:prstGeom prst="rect">
            <a:avLst/>
          </a:prstGeom>
        </p:spPr>
      </p:pic>
      <p:sp>
        <p:nvSpPr>
          <p:cNvPr id="15" name="Text 10"/>
          <p:cNvSpPr/>
          <p:nvPr/>
        </p:nvSpPr>
        <p:spPr>
          <a:xfrm>
            <a:off x="4754880" y="4160520"/>
            <a:ext cx="2834640" cy="457200"/>
          </a:xfrm>
          <a:prstGeom prst="rect">
            <a:avLst/>
          </a:prstGeom>
          <a:noFill/>
          <a:ln/>
        </p:spPr>
        <p:txBody>
          <a:bodyPr wrap="square" lIns="0" tIns="0" rIns="0" bIns="0" rtlCol="0" anchor="ctr"/>
          <a:lstStyle/>
          <a:p>
            <a:pPr indent="0" marL="0">
              <a:buNone/>
            </a:pPr>
            <a:r>
              <a:rPr lang="en-US" sz="1700" b="1" dirty="0">
                <a:solidFill>
                  <a:srgbClr val="0C4A6E"/>
                </a:solidFill>
                <a:latin typeface="Cambria" pitchFamily="34" charset="0"/>
                <a:ea typeface="Cambria" pitchFamily="34" charset="-122"/>
                <a:cs typeface="Cambria" pitchFamily="34" charset="-120"/>
              </a:rPr>
              <a:t>Accessibility analysis</a:t>
            </a:r>
            <a:endParaRPr lang="en-US" sz="1700" dirty="0"/>
          </a:p>
        </p:txBody>
      </p:sp>
      <p:sp>
        <p:nvSpPr>
          <p:cNvPr id="16" name="Text 11"/>
          <p:cNvSpPr/>
          <p:nvPr/>
        </p:nvSpPr>
        <p:spPr>
          <a:xfrm>
            <a:off x="4754880" y="4617720"/>
            <a:ext cx="2834640" cy="100584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Load CSV / GeoJSON into QGIS to find neighbourhoods far from any official cooling room but close to a fountain or park.</a:t>
            </a:r>
            <a:endParaRPr lang="en-US" sz="1350" dirty="0"/>
          </a:p>
        </p:txBody>
      </p:sp>
      <p:sp>
        <p:nvSpPr>
          <p:cNvPr id="17" name="Shape 12"/>
          <p:cNvSpPr/>
          <p:nvPr/>
        </p:nvSpPr>
        <p:spPr>
          <a:xfrm>
            <a:off x="8138160" y="3154680"/>
            <a:ext cx="3383280" cy="2606040"/>
          </a:xfrm>
          <a:prstGeom prst="roundRect">
            <a:avLst>
              <a:gd name="adj" fmla="val 3509"/>
            </a:avLst>
          </a:prstGeom>
          <a:solidFill>
            <a:srgbClr val="EAF3F7"/>
          </a:solidFill>
          <a:ln/>
          <a:effectLst>
            <a:outerShdw sx="100000" sy="100000" kx="0" ky="0" algn="bl" rotWithShape="0" blurRad="88900" dist="25400" dir="2700000">
              <a:srgbClr val="0C4A6E">
                <a:alpha val="16000"/>
              </a:srgbClr>
            </a:outerShdw>
          </a:effectLst>
        </p:spPr>
      </p:sp>
      <p:sp>
        <p:nvSpPr>
          <p:cNvPr id="18" name="Shape 13"/>
          <p:cNvSpPr/>
          <p:nvPr/>
        </p:nvSpPr>
        <p:spPr>
          <a:xfrm>
            <a:off x="8412480" y="3429000"/>
            <a:ext cx="640080" cy="640080"/>
          </a:xfrm>
          <a:prstGeom prst="ellipse">
            <a:avLst/>
          </a:prstGeom>
          <a:solidFill>
            <a:srgbClr val="FFFFFF"/>
          </a:solidFill>
          <a:ln/>
          <a:effectLst>
            <a:outerShdw sx="100000" sy="100000" kx="0" ky="0" algn="bl" rotWithShape="0" blurRad="88900" dist="25400" dir="2700000">
              <a:srgbClr val="0C4A6E">
                <a:alpha val="16000"/>
              </a:srgbClr>
            </a:outerShdw>
          </a:effectLst>
        </p:spPr>
      </p:sp>
      <p:pic>
        <p:nvPicPr>
          <p:cNvPr id="19" name="Image 3" descr="preencoded.png">    </p:cNvPr>
          <p:cNvPicPr>
            <a:picLocks noChangeAspect="1"/>
          </p:cNvPicPr>
          <p:nvPr/>
        </p:nvPicPr>
        <p:blipFill>
          <a:blip r:embed="rId4"/>
          <a:stretch>
            <a:fillRect/>
          </a:stretch>
        </p:blipFill>
        <p:spPr>
          <a:xfrm>
            <a:off x="8578901" y="3595421"/>
            <a:ext cx="307238" cy="307238"/>
          </a:xfrm>
          <a:prstGeom prst="rect">
            <a:avLst/>
          </a:prstGeom>
        </p:spPr>
      </p:pic>
      <p:sp>
        <p:nvSpPr>
          <p:cNvPr id="20" name="Text 14"/>
          <p:cNvSpPr/>
          <p:nvPr/>
        </p:nvSpPr>
        <p:spPr>
          <a:xfrm>
            <a:off x="8412480" y="4160520"/>
            <a:ext cx="2834640" cy="457200"/>
          </a:xfrm>
          <a:prstGeom prst="rect">
            <a:avLst/>
          </a:prstGeom>
          <a:noFill/>
          <a:ln/>
        </p:spPr>
        <p:txBody>
          <a:bodyPr wrap="square" lIns="0" tIns="0" rIns="0" bIns="0" rtlCol="0" anchor="ctr"/>
          <a:lstStyle/>
          <a:p>
            <a:pPr indent="0" marL="0">
              <a:buNone/>
            </a:pPr>
            <a:r>
              <a:rPr lang="en-US" sz="1700" b="1" dirty="0">
                <a:solidFill>
                  <a:srgbClr val="0C4A6E"/>
                </a:solidFill>
                <a:latin typeface="Cambria" pitchFamily="34" charset="0"/>
                <a:ea typeface="Cambria" pitchFamily="34" charset="-122"/>
                <a:cs typeface="Cambria" pitchFamily="34" charset="-120"/>
              </a:rPr>
              <a:t>Planning &amp; apps</a:t>
            </a:r>
            <a:endParaRPr lang="en-US" sz="1700" dirty="0"/>
          </a:p>
        </p:txBody>
      </p:sp>
      <p:sp>
        <p:nvSpPr>
          <p:cNvPr id="21" name="Text 15"/>
          <p:cNvSpPr/>
          <p:nvPr/>
        </p:nvSpPr>
        <p:spPr>
          <a:xfrm>
            <a:off x="8412480" y="4617720"/>
            <a:ext cx="2834640" cy="100584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A ready layer for heat-resilience planning or a city app, easy to integrate with other open geodata.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3200" b="1" dirty="0">
                <a:solidFill>
                  <a:srgbClr val="0C4A6E"/>
                </a:solidFill>
                <a:latin typeface="Cambria" pitchFamily="34" charset="0"/>
                <a:ea typeface="Cambria" pitchFamily="34" charset="-122"/>
                <a:cs typeface="Cambria" pitchFamily="34" charset="-120"/>
              </a:rPr>
              <a:t>Demo: interactive map</a:t>
            </a:r>
            <a:endParaRPr lang="en-US" sz="3200" dirty="0"/>
          </a:p>
        </p:txBody>
      </p:sp>
      <p:pic>
        <p:nvPicPr>
          <p:cNvPr id="3" name="Image 0" descr="/home/claude/map_screenshot.png">    </p:cNvPr>
          <p:cNvPicPr>
            <a:picLocks noChangeAspect="1"/>
          </p:cNvPicPr>
          <p:nvPr/>
        </p:nvPicPr>
        <p:blipFill>
          <a:blip r:embed="rId1"/>
          <a:stretch>
            <a:fillRect/>
          </a:stretch>
        </p:blipFill>
        <p:spPr>
          <a:xfrm>
            <a:off x="822960" y="1417320"/>
            <a:ext cx="7818120" cy="3823460"/>
          </a:xfrm>
          <a:prstGeom prst="rect">
            <a:avLst/>
          </a:prstGeom>
        </p:spPr>
      </p:pic>
      <p:sp>
        <p:nvSpPr>
          <p:cNvPr id="4" name="Shape 1"/>
          <p:cNvSpPr/>
          <p:nvPr/>
        </p:nvSpPr>
        <p:spPr>
          <a:xfrm>
            <a:off x="822960" y="1417320"/>
            <a:ext cx="7818120" cy="3823460"/>
          </a:xfrm>
          <a:prstGeom prst="rect">
            <a:avLst/>
          </a:prstGeom>
          <a:ln w="12700">
            <a:solidFill>
              <a:srgbClr val="CBD5E1"/>
            </a:solidFill>
            <a:prstDash val="solid"/>
          </a:ln>
        </p:spPr>
      </p:sp>
      <p:sp>
        <p:nvSpPr>
          <p:cNvPr id="5" name="Text 2"/>
          <p:cNvSpPr/>
          <p:nvPr/>
        </p:nvSpPr>
        <p:spPr>
          <a:xfrm>
            <a:off x="8869680" y="1463040"/>
            <a:ext cx="2743200" cy="457200"/>
          </a:xfrm>
          <a:prstGeom prst="rect">
            <a:avLst/>
          </a:prstGeom>
          <a:noFill/>
          <a:ln/>
        </p:spPr>
        <p:txBody>
          <a:bodyPr wrap="square" lIns="0" tIns="0" rIns="0" bIns="0" rtlCol="0" anchor="ctr"/>
          <a:lstStyle/>
          <a:p>
            <a:pPr indent="0" marL="0">
              <a:buNone/>
            </a:pPr>
            <a:r>
              <a:rPr lang="en-US" sz="1800" b="1" dirty="0">
                <a:solidFill>
                  <a:srgbClr val="0C4A6E"/>
                </a:solidFill>
                <a:latin typeface="Cambria" pitchFamily="34" charset="0"/>
                <a:ea typeface="Cambria" pitchFamily="34" charset="-122"/>
                <a:cs typeface="Cambria" pitchFamily="34" charset="-120"/>
              </a:rPr>
              <a:t>How to read it</a:t>
            </a:r>
            <a:endParaRPr lang="en-US" sz="1800" dirty="0"/>
          </a:p>
        </p:txBody>
      </p:sp>
      <p:sp>
        <p:nvSpPr>
          <p:cNvPr id="6" name="Text 3"/>
          <p:cNvSpPr/>
          <p:nvPr/>
        </p:nvSpPr>
        <p:spPr>
          <a:xfrm>
            <a:off x="8869680" y="1965960"/>
            <a:ext cx="2743200" cy="2743200"/>
          </a:xfrm>
          <a:prstGeom prst="rect">
            <a:avLst/>
          </a:prstGeom>
          <a:noFill/>
          <a:ln/>
        </p:spPr>
        <p:txBody>
          <a:bodyPr wrap="square" rtlCol="0" anchor="t"/>
          <a:lstStyle/>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Toggle layers (top right) to show or hide each of the seven types.</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Red markers mark the official “Coole Räume“.</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Click any marker for name, address, source and license.</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Built with Leaflet / folium from the same CSV.</a:t>
            </a:r>
            <a:endParaRPr lang="en-US" sz="1350" dirty="0"/>
          </a:p>
        </p:txBody>
      </p:sp>
      <p:sp>
        <p:nvSpPr>
          <p:cNvPr id="7" name="Shape 4"/>
          <p:cNvSpPr/>
          <p:nvPr/>
        </p:nvSpPr>
        <p:spPr>
          <a:xfrm>
            <a:off x="8869680" y="4892040"/>
            <a:ext cx="2743200" cy="868680"/>
          </a:xfrm>
          <a:prstGeom prst="roundRect">
            <a:avLst>
              <a:gd name="adj" fmla="val 8421"/>
            </a:avLst>
          </a:prstGeom>
          <a:solidFill>
            <a:srgbClr val="EAF3F7"/>
          </a:solidFill>
          <a:ln/>
        </p:spPr>
      </p:sp>
      <p:sp>
        <p:nvSpPr>
          <p:cNvPr id="8" name="Text 5"/>
          <p:cNvSpPr/>
          <p:nvPr/>
        </p:nvSpPr>
        <p:spPr>
          <a:xfrm>
            <a:off x="9006840" y="4983480"/>
            <a:ext cx="2514600" cy="713232"/>
          </a:xfrm>
          <a:prstGeom prst="rect">
            <a:avLst/>
          </a:prstGeom>
          <a:noFill/>
          <a:ln/>
        </p:spPr>
        <p:txBody>
          <a:bodyPr wrap="square" rtlCol="0" anchor="ctr"/>
          <a:lstStyle/>
          <a:p>
            <a:pPr indent="0" marL="0">
              <a:buNone/>
            </a:pPr>
            <a:r>
              <a:rPr lang="en-US" sz="1000" b="1" spc="200" kern="0" dirty="0">
                <a:solidFill>
                  <a:srgbClr val="64748B"/>
                </a:solidFill>
              </a:rPr>
              <a:t>LIVE MAP</a:t>
            </a:r>
            <a:endParaRPr lang="en-US" sz="1000" dirty="0"/>
          </a:p>
          <a:p>
            <a:pPr indent="0" marL="0">
              <a:buNone/>
            </a:pPr>
            <a:r>
              <a:rPr lang="en-US" sz="950" dirty="0">
                <a:solidFill>
                  <a:srgbClr val="1C7293"/>
                </a:solidFill>
                <a:latin typeface="Courier New" pitchFamily="34" charset="0"/>
                <a:ea typeface="Courier New" pitchFamily="34" charset="-122"/>
                <a:cs typeface="Courier New" pitchFamily="34" charset="-120"/>
              </a:rPr>
              <a:t>englischmattis-crypto.github.io/graz-cool-spots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4A6E"/>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Legal, ethical and maintenance</a:t>
            </a:r>
            <a:endParaRPr lang="en-US" sz="3000" dirty="0"/>
          </a:p>
        </p:txBody>
      </p:sp>
      <p:sp>
        <p:nvSpPr>
          <p:cNvPr id="3" name="Shape 1"/>
          <p:cNvSpPr/>
          <p:nvPr/>
        </p:nvSpPr>
        <p:spPr>
          <a:xfrm>
            <a:off x="822960" y="1554480"/>
            <a:ext cx="3520440" cy="2743200"/>
          </a:xfrm>
          <a:prstGeom prst="roundRect">
            <a:avLst>
              <a:gd name="adj" fmla="val 3333"/>
            </a:avLst>
          </a:prstGeom>
          <a:solidFill>
            <a:srgbClr val="FFFFFF"/>
          </a:solidFill>
          <a:ln/>
          <a:effectLst>
            <a:outerShdw sx="100000" sy="100000" kx="0" ky="0" algn="bl" rotWithShape="0" blurRad="88900" dist="25400" dir="2700000">
              <a:srgbClr val="0C4A6E">
                <a:alpha val="16000"/>
              </a:srgbClr>
            </a:outerShdw>
          </a:effectLst>
        </p:spPr>
      </p:sp>
      <p:sp>
        <p:nvSpPr>
          <p:cNvPr id="4" name="Shape 2"/>
          <p:cNvSpPr/>
          <p:nvPr/>
        </p:nvSpPr>
        <p:spPr>
          <a:xfrm>
            <a:off x="1115568" y="1847088"/>
            <a:ext cx="658368" cy="658368"/>
          </a:xfrm>
          <a:prstGeom prst="ellipse">
            <a:avLst/>
          </a:prstGeom>
          <a:solidFill>
            <a:srgbClr val="EAF3F7"/>
          </a:solidFill>
          <a:ln/>
          <a:effectLst>
            <a:outerShdw sx="100000" sy="100000" kx="0" ky="0" algn="bl" rotWithShape="0" blurRad="88900" dist="25400" dir="2700000">
              <a:srgbClr val="0C4A6E">
                <a:alpha val="16000"/>
              </a:srgbClr>
            </a:outerShdw>
          </a:effectLst>
        </p:spPr>
      </p:sp>
      <p:pic>
        <p:nvPicPr>
          <p:cNvPr id="5" name="Image 0" descr="preencoded.png">    </p:cNvPr>
          <p:cNvPicPr>
            <a:picLocks noChangeAspect="1"/>
          </p:cNvPicPr>
          <p:nvPr/>
        </p:nvPicPr>
        <p:blipFill>
          <a:blip r:embed="rId1"/>
          <a:stretch>
            <a:fillRect/>
          </a:stretch>
        </p:blipFill>
        <p:spPr>
          <a:xfrm>
            <a:off x="1286744" y="2018264"/>
            <a:ext cx="316017" cy="316017"/>
          </a:xfrm>
          <a:prstGeom prst="rect">
            <a:avLst/>
          </a:prstGeom>
        </p:spPr>
      </p:pic>
      <p:sp>
        <p:nvSpPr>
          <p:cNvPr id="6" name="Text 3"/>
          <p:cNvSpPr/>
          <p:nvPr/>
        </p:nvSpPr>
        <p:spPr>
          <a:xfrm>
            <a:off x="1115568" y="2578608"/>
            <a:ext cx="2971800" cy="457200"/>
          </a:xfrm>
          <a:prstGeom prst="rect">
            <a:avLst/>
          </a:prstGeom>
          <a:noFill/>
          <a:ln/>
        </p:spPr>
        <p:txBody>
          <a:bodyPr wrap="square" lIns="0" tIns="0" rIns="0" bIns="0" rtlCol="0" anchor="ctr"/>
          <a:lstStyle/>
          <a:p>
            <a:pPr indent="0" marL="0">
              <a:buNone/>
            </a:pPr>
            <a:r>
              <a:rPr lang="en-US" sz="1900" b="1" dirty="0">
                <a:solidFill>
                  <a:srgbClr val="0C4A6E"/>
                </a:solidFill>
                <a:latin typeface="Cambria" pitchFamily="34" charset="0"/>
                <a:ea typeface="Cambria" pitchFamily="34" charset="-122"/>
                <a:cs typeface="Cambria" pitchFamily="34" charset="-120"/>
              </a:rPr>
              <a:t>Legal</a:t>
            </a:r>
            <a:endParaRPr lang="en-US" sz="1900" dirty="0"/>
          </a:p>
        </p:txBody>
      </p:sp>
      <p:sp>
        <p:nvSpPr>
          <p:cNvPr id="7" name="Text 4"/>
          <p:cNvSpPr/>
          <p:nvPr/>
        </p:nvSpPr>
        <p:spPr>
          <a:xfrm>
            <a:off x="1115568" y="3035808"/>
            <a:ext cx="2971800" cy="1143000"/>
          </a:xfrm>
          <a:prstGeom prst="rect">
            <a:avLst/>
          </a:prstGeom>
          <a:noFill/>
          <a:ln/>
        </p:spPr>
        <p:txBody>
          <a:bodyPr wrap="square" lIns="0" tIns="0" rIns="0" bIns="0" rtlCol="0" anchor="ctr"/>
          <a:lstStyle/>
          <a:p>
            <a:pPr indent="0" marL="0">
              <a:lnSpc>
                <a:spcPct val="108000"/>
              </a:lnSpc>
              <a:buNone/>
            </a:pPr>
            <a:r>
              <a:rPr lang="en-US" sz="1350" dirty="0">
                <a:solidFill>
                  <a:srgbClr val="1E293B"/>
                </a:solidFill>
                <a:latin typeface="Calibri" pitchFamily="34" charset="0"/>
                <a:ea typeface="Calibri" pitchFamily="34" charset="-122"/>
                <a:cs typeface="Calibri" pitchFamily="34" charset="-120"/>
              </a:rPr>
              <a:t>All sources openly licensed. Attributions documented. ODbL share-alike respected across the combined database.</a:t>
            </a:r>
            <a:endParaRPr lang="en-US" sz="1350" dirty="0"/>
          </a:p>
        </p:txBody>
      </p:sp>
      <p:sp>
        <p:nvSpPr>
          <p:cNvPr id="8" name="Shape 5"/>
          <p:cNvSpPr/>
          <p:nvPr/>
        </p:nvSpPr>
        <p:spPr>
          <a:xfrm>
            <a:off x="4636008" y="1554480"/>
            <a:ext cx="3520440" cy="2743200"/>
          </a:xfrm>
          <a:prstGeom prst="roundRect">
            <a:avLst>
              <a:gd name="adj" fmla="val 3333"/>
            </a:avLst>
          </a:prstGeom>
          <a:solidFill>
            <a:srgbClr val="FFFFFF"/>
          </a:solidFill>
          <a:ln/>
          <a:effectLst>
            <a:outerShdw sx="100000" sy="100000" kx="0" ky="0" algn="bl" rotWithShape="0" blurRad="88900" dist="25400" dir="2700000">
              <a:srgbClr val="0C4A6E">
                <a:alpha val="16000"/>
              </a:srgbClr>
            </a:outerShdw>
          </a:effectLst>
        </p:spPr>
      </p:sp>
      <p:sp>
        <p:nvSpPr>
          <p:cNvPr id="9" name="Shape 6"/>
          <p:cNvSpPr/>
          <p:nvPr/>
        </p:nvSpPr>
        <p:spPr>
          <a:xfrm>
            <a:off x="4928616" y="1847088"/>
            <a:ext cx="658368" cy="658368"/>
          </a:xfrm>
          <a:prstGeom prst="ellipse">
            <a:avLst/>
          </a:prstGeom>
          <a:solidFill>
            <a:srgbClr val="EAF3F7"/>
          </a:solidFill>
          <a:ln/>
          <a:effectLst>
            <a:outerShdw sx="100000" sy="100000" kx="0" ky="0" algn="bl" rotWithShape="0" blurRad="88900" dist="25400" dir="2700000">
              <a:srgbClr val="0C4A6E">
                <a:alpha val="16000"/>
              </a:srgbClr>
            </a:outerShdw>
          </a:effectLst>
        </p:spPr>
      </p:sp>
      <p:pic>
        <p:nvPicPr>
          <p:cNvPr id="10" name="Image 1" descr="preencoded.png">    </p:cNvPr>
          <p:cNvPicPr>
            <a:picLocks noChangeAspect="1"/>
          </p:cNvPicPr>
          <p:nvPr/>
        </p:nvPicPr>
        <p:blipFill>
          <a:blip r:embed="rId2"/>
          <a:stretch>
            <a:fillRect/>
          </a:stretch>
        </p:blipFill>
        <p:spPr>
          <a:xfrm>
            <a:off x="5099792" y="2018264"/>
            <a:ext cx="316017" cy="316017"/>
          </a:xfrm>
          <a:prstGeom prst="rect">
            <a:avLst/>
          </a:prstGeom>
        </p:spPr>
      </p:pic>
      <p:sp>
        <p:nvSpPr>
          <p:cNvPr id="11" name="Text 7"/>
          <p:cNvSpPr/>
          <p:nvPr/>
        </p:nvSpPr>
        <p:spPr>
          <a:xfrm>
            <a:off x="4928616" y="2578608"/>
            <a:ext cx="2971800" cy="457200"/>
          </a:xfrm>
          <a:prstGeom prst="rect">
            <a:avLst/>
          </a:prstGeom>
          <a:noFill/>
          <a:ln/>
        </p:spPr>
        <p:txBody>
          <a:bodyPr wrap="square" lIns="0" tIns="0" rIns="0" bIns="0" rtlCol="0" anchor="ctr"/>
          <a:lstStyle/>
          <a:p>
            <a:pPr indent="0" marL="0">
              <a:buNone/>
            </a:pPr>
            <a:r>
              <a:rPr lang="en-US" sz="1900" b="1" dirty="0">
                <a:solidFill>
                  <a:srgbClr val="0C4A6E"/>
                </a:solidFill>
                <a:latin typeface="Cambria" pitchFamily="34" charset="0"/>
                <a:ea typeface="Cambria" pitchFamily="34" charset="-122"/>
                <a:cs typeface="Cambria" pitchFamily="34" charset="-120"/>
              </a:rPr>
              <a:t>Ethical</a:t>
            </a:r>
            <a:endParaRPr lang="en-US" sz="1900" dirty="0"/>
          </a:p>
        </p:txBody>
      </p:sp>
      <p:sp>
        <p:nvSpPr>
          <p:cNvPr id="12" name="Text 8"/>
          <p:cNvSpPr/>
          <p:nvPr/>
        </p:nvSpPr>
        <p:spPr>
          <a:xfrm>
            <a:off x="4928616" y="3035808"/>
            <a:ext cx="2971800" cy="1143000"/>
          </a:xfrm>
          <a:prstGeom prst="rect">
            <a:avLst/>
          </a:prstGeom>
          <a:noFill/>
          <a:ln/>
        </p:spPr>
        <p:txBody>
          <a:bodyPr wrap="square" lIns="0" tIns="0" rIns="0" bIns="0" rtlCol="0" anchor="ctr"/>
          <a:lstStyle/>
          <a:p>
            <a:pPr indent="0" marL="0">
              <a:lnSpc>
                <a:spcPct val="108000"/>
              </a:lnSpc>
              <a:buNone/>
            </a:pPr>
            <a:r>
              <a:rPr lang="en-US" sz="1350" dirty="0">
                <a:solidFill>
                  <a:srgbClr val="1E293B"/>
                </a:solidFill>
                <a:latin typeface="Calibri" pitchFamily="34" charset="0"/>
                <a:ea typeface="Calibri" pitchFamily="34" charset="-122"/>
                <a:cs typeface="Calibri" pitchFamily="34" charset="-120"/>
              </a:rPr>
              <a:t>Only public infrastructure, no personal data. Supports a climate-vulnerable, public-good use case.</a:t>
            </a:r>
            <a:endParaRPr lang="en-US" sz="1350" dirty="0"/>
          </a:p>
        </p:txBody>
      </p:sp>
      <p:sp>
        <p:nvSpPr>
          <p:cNvPr id="13" name="Shape 9"/>
          <p:cNvSpPr/>
          <p:nvPr/>
        </p:nvSpPr>
        <p:spPr>
          <a:xfrm>
            <a:off x="8449056" y="1554480"/>
            <a:ext cx="3520440" cy="2743200"/>
          </a:xfrm>
          <a:prstGeom prst="roundRect">
            <a:avLst>
              <a:gd name="adj" fmla="val 3333"/>
            </a:avLst>
          </a:prstGeom>
          <a:solidFill>
            <a:srgbClr val="FFFFFF"/>
          </a:solidFill>
          <a:ln/>
          <a:effectLst>
            <a:outerShdw sx="100000" sy="100000" kx="0" ky="0" algn="bl" rotWithShape="0" blurRad="88900" dist="25400" dir="2700000">
              <a:srgbClr val="0C4A6E">
                <a:alpha val="16000"/>
              </a:srgbClr>
            </a:outerShdw>
          </a:effectLst>
        </p:spPr>
      </p:sp>
      <p:sp>
        <p:nvSpPr>
          <p:cNvPr id="14" name="Shape 10"/>
          <p:cNvSpPr/>
          <p:nvPr/>
        </p:nvSpPr>
        <p:spPr>
          <a:xfrm>
            <a:off x="8741664" y="1847088"/>
            <a:ext cx="658368" cy="658368"/>
          </a:xfrm>
          <a:prstGeom prst="ellipse">
            <a:avLst/>
          </a:prstGeom>
          <a:solidFill>
            <a:srgbClr val="EAF3F7"/>
          </a:solidFill>
          <a:ln/>
          <a:effectLst>
            <a:outerShdw sx="100000" sy="100000" kx="0" ky="0" algn="bl" rotWithShape="0" blurRad="88900" dist="25400" dir="2700000">
              <a:srgbClr val="0C4A6E">
                <a:alpha val="16000"/>
              </a:srgbClr>
            </a:outerShdw>
          </a:effectLst>
        </p:spPr>
      </p:sp>
      <p:pic>
        <p:nvPicPr>
          <p:cNvPr id="15" name="Image 2" descr="preencoded.png">    </p:cNvPr>
          <p:cNvPicPr>
            <a:picLocks noChangeAspect="1"/>
          </p:cNvPicPr>
          <p:nvPr/>
        </p:nvPicPr>
        <p:blipFill>
          <a:blip r:embed="rId3"/>
          <a:stretch>
            <a:fillRect/>
          </a:stretch>
        </p:blipFill>
        <p:spPr>
          <a:xfrm>
            <a:off x="8912840" y="2018264"/>
            <a:ext cx="316017" cy="316017"/>
          </a:xfrm>
          <a:prstGeom prst="rect">
            <a:avLst/>
          </a:prstGeom>
        </p:spPr>
      </p:pic>
      <p:sp>
        <p:nvSpPr>
          <p:cNvPr id="16" name="Text 11"/>
          <p:cNvSpPr/>
          <p:nvPr/>
        </p:nvSpPr>
        <p:spPr>
          <a:xfrm>
            <a:off x="8741664" y="2578608"/>
            <a:ext cx="2971800" cy="457200"/>
          </a:xfrm>
          <a:prstGeom prst="rect">
            <a:avLst/>
          </a:prstGeom>
          <a:noFill/>
          <a:ln/>
        </p:spPr>
        <p:txBody>
          <a:bodyPr wrap="square" lIns="0" tIns="0" rIns="0" bIns="0" rtlCol="0" anchor="ctr"/>
          <a:lstStyle/>
          <a:p>
            <a:pPr indent="0" marL="0">
              <a:buNone/>
            </a:pPr>
            <a:r>
              <a:rPr lang="en-US" sz="1900" b="1" dirty="0">
                <a:solidFill>
                  <a:srgbClr val="0C4A6E"/>
                </a:solidFill>
                <a:latin typeface="Cambria" pitchFamily="34" charset="0"/>
                <a:ea typeface="Cambria" pitchFamily="34" charset="-122"/>
                <a:cs typeface="Cambria" pitchFamily="34" charset="-120"/>
              </a:rPr>
              <a:t>Maintenance</a:t>
            </a:r>
            <a:endParaRPr lang="en-US" sz="1900" dirty="0"/>
          </a:p>
        </p:txBody>
      </p:sp>
      <p:sp>
        <p:nvSpPr>
          <p:cNvPr id="17" name="Text 12"/>
          <p:cNvSpPr/>
          <p:nvPr/>
        </p:nvSpPr>
        <p:spPr>
          <a:xfrm>
            <a:off x="8741664" y="3035808"/>
            <a:ext cx="2971800" cy="1143000"/>
          </a:xfrm>
          <a:prstGeom prst="rect">
            <a:avLst/>
          </a:prstGeom>
          <a:noFill/>
          <a:ln/>
        </p:spPr>
        <p:txBody>
          <a:bodyPr wrap="square" lIns="0" tIns="0" rIns="0" bIns="0" rtlCol="0" anchor="ctr"/>
          <a:lstStyle/>
          <a:p>
            <a:pPr indent="0" marL="0">
              <a:lnSpc>
                <a:spcPct val="108000"/>
              </a:lnSpc>
              <a:buNone/>
            </a:pPr>
            <a:r>
              <a:rPr lang="en-US" sz="1350" dirty="0">
                <a:solidFill>
                  <a:srgbClr val="1E293B"/>
                </a:solidFill>
                <a:latin typeface="Calibri" pitchFamily="34" charset="0"/>
                <a:ea typeface="Calibri" pitchFamily="34" charset="-122"/>
                <a:cs typeface="Calibri" pitchFamily="34" charset="-120"/>
              </a:rPr>
              <a:t>Re-run merge_graz.py against the live OGD and OSM endpoints. Re-check the official Hitzeaktionsplan for Coole Räume changes. Open to community pull requests.</a:t>
            </a:r>
            <a:endParaRPr lang="en-US" sz="1350" dirty="0"/>
          </a:p>
        </p:txBody>
      </p:sp>
      <p:sp>
        <p:nvSpPr>
          <p:cNvPr id="18" name="Text 13"/>
          <p:cNvSpPr/>
          <p:nvPr/>
        </p:nvSpPr>
        <p:spPr>
          <a:xfrm>
            <a:off x="822960" y="4800600"/>
            <a:ext cx="105156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Cool Spots Graz</a:t>
            </a:r>
            <a:pPr algn="ctr" indent="0" marL="0">
              <a:buNone/>
            </a:pPr>
            <a:r>
              <a:rPr lang="en-US" sz="1400" dirty="0">
                <a:solidFill>
                  <a:srgbClr val="CADCFC"/>
                </a:solidFill>
                <a:latin typeface="Courier New" pitchFamily="34" charset="0"/>
                <a:ea typeface="Courier New" pitchFamily="34" charset="-122"/>
                <a:cs typeface="Courier New" pitchFamily="34" charset="-120"/>
              </a:rPr>
              <a:t>      github.com/englischmattis-crypto/graz-cool-spots</a:t>
            </a:r>
            <a:endParaRPr lang="en-US" sz="1800" dirty="0"/>
          </a:p>
        </p:txBody>
      </p:sp>
      <p:sp>
        <p:nvSpPr>
          <p:cNvPr id="19" name="Text 14"/>
          <p:cNvSpPr/>
          <p:nvPr/>
        </p:nvSpPr>
        <p:spPr>
          <a:xfrm>
            <a:off x="822960" y="5440680"/>
            <a:ext cx="10515600" cy="457200"/>
          </a:xfrm>
          <a:prstGeom prst="rect">
            <a:avLst/>
          </a:prstGeom>
          <a:noFill/>
          <a:ln/>
        </p:spPr>
        <p:txBody>
          <a:bodyPr wrap="square" rtlCol="0" anchor="ctr"/>
          <a:lstStyle/>
          <a:p>
            <a:pPr algn="ctr" indent="0" marL="0">
              <a:buNone/>
            </a:pPr>
            <a:r>
              <a:rPr lang="en-US" sz="1600" i="1" dirty="0">
                <a:solidFill>
                  <a:srgbClr val="CADCFC"/>
                </a:solidFill>
                <a:latin typeface="Cambria" pitchFamily="34" charset="0"/>
                <a:ea typeface="Cambria" pitchFamily="34" charset="-122"/>
                <a:cs typeface="Cambria" pitchFamily="34" charset="-120"/>
              </a:rPr>
              <a:t>Thank you.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Cool Spots Graz</dc:title>
  <dc:subject>PptxGenJS Presentation</dc:subject>
  <dc:creator>Mattis</dc:creator>
  <cp:lastModifiedBy>Mattis</cp:lastModifiedBy>
  <cp:revision>1</cp:revision>
  <dcterms:created xsi:type="dcterms:W3CDTF">2026-06-15T06:30:10Z</dcterms:created>
  <dcterms:modified xsi:type="dcterms:W3CDTF">2026-06-15T06:30:10Z</dcterms:modified>
</cp:coreProperties>
</file>